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theme/theme4.xml" ContentType="application/vnd.openxmlformats-officedocument.theme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00" r:id="rId1"/>
    <p:sldMasterId id="2147483812" r:id="rId2"/>
    <p:sldMasterId id="2147483842" r:id="rId3"/>
    <p:sldMasterId id="2147483906" r:id="rId4"/>
    <p:sldMasterId id="2147483924" r:id="rId5"/>
  </p:sldMasterIdLst>
  <p:notesMasterIdLst>
    <p:notesMasterId r:id="rId26"/>
  </p:notesMasterIdLst>
  <p:handoutMasterIdLst>
    <p:handoutMasterId r:id="rId27"/>
  </p:handoutMasterIdLst>
  <p:sldIdLst>
    <p:sldId id="298" r:id="rId6"/>
    <p:sldId id="341" r:id="rId7"/>
    <p:sldId id="307" r:id="rId8"/>
    <p:sldId id="342" r:id="rId9"/>
    <p:sldId id="343" r:id="rId10"/>
    <p:sldId id="344" r:id="rId11"/>
    <p:sldId id="346" r:id="rId12"/>
    <p:sldId id="347" r:id="rId13"/>
    <p:sldId id="310" r:id="rId14"/>
    <p:sldId id="348" r:id="rId15"/>
    <p:sldId id="351" r:id="rId16"/>
    <p:sldId id="352" r:id="rId17"/>
    <p:sldId id="308" r:id="rId18"/>
    <p:sldId id="257" r:id="rId19"/>
    <p:sldId id="353" r:id="rId20"/>
    <p:sldId id="354" r:id="rId21"/>
    <p:sldId id="355" r:id="rId22"/>
    <p:sldId id="356" r:id="rId23"/>
    <p:sldId id="357" r:id="rId24"/>
    <p:sldId id="358" r:id="rId25"/>
  </p:sldIdLst>
  <p:sldSz cx="12192000" cy="6858000"/>
  <p:notesSz cx="9874250" cy="67976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7200" autoAdjust="0"/>
    <p:restoredTop sz="90929"/>
  </p:normalViewPr>
  <p:slideViewPr>
    <p:cSldViewPr>
      <p:cViewPr varScale="1">
        <p:scale>
          <a:sx n="56" d="100"/>
          <a:sy n="56" d="100"/>
        </p:scale>
        <p:origin x="80" y="18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79918" cy="3409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5592027" y="0"/>
            <a:ext cx="4279918" cy="34097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FC4A74-658F-4AA3-8FF8-818328ADB058}" type="datetimeFigureOut">
              <a:rPr lang="zh-CN" altLang="en-US" smtClean="0"/>
              <a:t>2024/10/22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6456698"/>
            <a:ext cx="4279918" cy="3409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5592027" y="6456698"/>
            <a:ext cx="4279918" cy="34097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CACEEC-160C-4DE4-9ED0-8DBD97EF3A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63307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EEE2B77-74D5-4FE2-A3CD-3CFB3D4F7E4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427884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D86357-BBC5-4848-BF16-5A665AECE9DF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593125" y="0"/>
            <a:ext cx="4278841" cy="34106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0AC7368-D48C-4469-A989-C1FDAC858E90}" type="datetimeFigureOut">
              <a:rPr lang="zh-CN" altLang="en-US"/>
              <a:pPr>
                <a:defRPr/>
              </a:pPr>
              <a:t>2024/10/22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75D27E8A-9BB3-4F8F-A208-468E6B19802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897188" y="849313"/>
            <a:ext cx="4079875" cy="2295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84DE94FC-BF02-452E-8207-75F948F73F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87426" y="3271381"/>
            <a:ext cx="7899400" cy="267658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742AC2-CA9D-47A2-8545-82A6F5A2E4C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1" y="6456612"/>
            <a:ext cx="427884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D29D1D-F9D2-49D9-B3BE-EB4316DABA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593125" y="6456612"/>
            <a:ext cx="4278841" cy="3410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D170EE65-0C9F-47E6-9333-1C91FD451BF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671763" y="509588"/>
            <a:ext cx="4530725" cy="25495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F074800-B55B-43BE-BA8B-ADE373D1120E}" type="slidenum">
              <a:rPr kumimoji="1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431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1A8F0C28-D008-499B-8A96-E276803203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897188" y="849313"/>
            <a:ext cx="4079875" cy="22955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08D8474A-552C-4D2E-B3FD-8DF2699E4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368623BD-7A1D-4C87-B297-163874C85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03134E-E0F2-4682-B484-D0D891D289A4}" type="slidenum">
              <a:rPr lang="zh-CN" altLang="en-US" smtClean="0">
                <a:latin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>
              <a:latin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319583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1A8F0C28-D008-499B-8A96-E276803203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897188" y="849313"/>
            <a:ext cx="4079875" cy="22955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08D8474A-552C-4D2E-B3FD-8DF2699E4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368623BD-7A1D-4C87-B297-163874C85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03134E-E0F2-4682-B484-D0D891D289A4}" type="slidenum">
              <a:rPr lang="zh-CN" altLang="en-US" smtClean="0">
                <a:latin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>
              <a:latin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153050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1A8F0C28-D008-499B-8A96-E276803203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897188" y="849313"/>
            <a:ext cx="4079875" cy="22955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08D8474A-552C-4D2E-B3FD-8DF2699E4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368623BD-7A1D-4C87-B297-163874C85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03134E-E0F2-4682-B484-D0D891D289A4}" type="slidenum">
              <a:rPr lang="zh-CN" altLang="en-US" smtClean="0">
                <a:latin typeface="等线" panose="02010600030101010101" pitchFamily="2" charset="-122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>
              <a:latin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923786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1A8F0C28-D008-499B-8A96-E276803203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897188" y="849313"/>
            <a:ext cx="4079875" cy="22955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08D8474A-552C-4D2E-B3FD-8DF2699E4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368623BD-7A1D-4C87-B297-163874C85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03134E-E0F2-4682-B484-D0D891D289A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12197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1A8F0C28-D008-499B-8A96-E276803203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897188" y="849313"/>
            <a:ext cx="4079875" cy="22955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08D8474A-552C-4D2E-B3FD-8DF2699E4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368623BD-7A1D-4C87-B297-163874C85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03134E-E0F2-4682-B484-D0D891D289A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82839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1A8F0C28-D008-499B-8A96-E276803203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897188" y="849313"/>
            <a:ext cx="4079875" cy="22955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08D8474A-552C-4D2E-B3FD-8DF2699E4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368623BD-7A1D-4C87-B297-163874C85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03134E-E0F2-4682-B484-D0D891D289A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20742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1A8F0C28-D008-499B-8A96-E276803203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897188" y="849313"/>
            <a:ext cx="4079875" cy="22955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08D8474A-552C-4D2E-B3FD-8DF2699E4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368623BD-7A1D-4C87-B297-163874C85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03134E-E0F2-4682-B484-D0D891D289A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38362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>
            <a:extLst>
              <a:ext uri="{FF2B5EF4-FFF2-40B4-BE49-F238E27FC236}">
                <a16:creationId xmlns:a16="http://schemas.microsoft.com/office/drawing/2014/main" id="{1A8F0C28-D008-499B-8A96-E2768032031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2897188" y="849313"/>
            <a:ext cx="4079875" cy="2295525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>
            <a:extLst>
              <a:ext uri="{FF2B5EF4-FFF2-40B4-BE49-F238E27FC236}">
                <a16:creationId xmlns:a16="http://schemas.microsoft.com/office/drawing/2014/main" id="{08D8474A-552C-4D2E-B3FD-8DF2699E4A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>
            <a:extLst>
              <a:ext uri="{FF2B5EF4-FFF2-40B4-BE49-F238E27FC236}">
                <a16:creationId xmlns:a16="http://schemas.microsoft.com/office/drawing/2014/main" id="{368623BD-7A1D-4C87-B297-163874C855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E03134E-E0F2-4682-B484-D0D891D289A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09991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1C1C1C"/>
                </a:solidFill>
              </a:rPr>
              <a:t> </a:t>
            </a: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2755898-8FD4-4964-B4BC-AA646DD2E2DA}" type="slidenum">
              <a:rPr lang="en-US" altLang="zh-CN" smtClean="0">
                <a:solidFill>
                  <a:srgbClr val="1C1C1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9933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7B680AF-C5C1-499C-8332-B6623D96608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77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52635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D34C5F8-D23A-4C9B-89C4-004DA083814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9869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2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2"/>
            <a:ext cx="5181600" cy="43513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5C62C5-D8BD-45D3-8DFE-AF86FD4E640A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703047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2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2"/>
            <a:ext cx="5156200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7552"/>
            <a:ext cx="5181601" cy="3680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465D5D-4317-43F7-96E2-545B31FADE66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314227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7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619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2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0D20362-9C4A-447B-BF66-33DDC3C33AA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91538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E02A06D-A098-4C3D-976F-6656EA86D46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06658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291C385-4FD6-40D0-9EF7-B11DD1F280AD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4282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0362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0364"/>
            <a:ext cx="7734300" cy="581183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59492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zh-CN" sz="18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</p:grpSp>
      <p:sp>
        <p:nvSpPr>
          <p:cNvPr id="203795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3962400" y="1828800"/>
            <a:ext cx="8026400" cy="2209800"/>
          </a:xfrm>
        </p:spPr>
        <p:txBody>
          <a:bodyPr/>
          <a:lstStyle>
            <a:lvl1pPr>
              <a:defRPr sz="3750">
                <a:solidFill>
                  <a:srgbClr val="FFFFFF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203796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3962400" y="4267200"/>
            <a:ext cx="8026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550"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8400"/>
            <a:ext cx="2844800" cy="457200"/>
          </a:xfr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FE8A036-B214-4C7B-91A8-FE0C3205C3D5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3879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05201B5-CB4D-42D1-A24C-89C5084F027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09656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5CA570B-6248-4CA0-8BEA-67BAB01BE08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6551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981200"/>
            <a:ext cx="5384800" cy="3886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384800" cy="3886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855FC78-BCC3-4F66-9FB6-31CC4AE3B8AF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3568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0C81236-4C05-4C18-9F3A-618683FD7793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01727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9D95E8-65F7-4EBC-A32B-46733FC53D48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16968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768F74B-42FF-42F5-B81D-7F87A6CB4FB7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4001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BAB1C4B2-3F16-4E19-8E7D-26797EC98494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33696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E279BCE-FBD0-4480-9323-D616018F075E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3625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FDE0CD1-61CC-4DCB-A2D6-23C7AF07CC96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7394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457200"/>
            <a:ext cx="2743200" cy="54102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457200"/>
            <a:ext cx="8026400" cy="54102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11E5CFAC-FA47-4892-8698-F2EBC73130B6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534913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3" y="228605"/>
            <a:ext cx="12012084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35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4814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219200" y="609600"/>
            <a:ext cx="10363200" cy="381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北京大学博士学位论文－</a:t>
            </a:r>
            <a:r>
              <a:rPr lang="en-US" altLang="zh-CN"/>
              <a:t>Weyl</a:t>
            </a:r>
            <a:r>
              <a:rPr lang="zh-CN" altLang="en-US"/>
              <a:t>变换</a:t>
            </a:r>
          </a:p>
        </p:txBody>
      </p:sp>
      <p:sp>
        <p:nvSpPr>
          <p:cNvPr id="4814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13208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1C1C1C"/>
                </a:solidFill>
              </a:rPr>
              <a:t> </a:t>
            </a:r>
            <a:endParaRPr kumimoji="0" lang="en-US" altLang="zh-CN">
              <a:solidFill>
                <a:srgbClr val="1C1C1C"/>
              </a:solidFill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572000" y="6248400"/>
            <a:ext cx="38608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kumimoji="0" lang="en-US" altLang="zh-CN">
              <a:solidFill>
                <a:srgbClr val="1C1C1C"/>
              </a:solidFill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144000" y="6248400"/>
            <a:ext cx="25400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9E0D425A-48ED-45D3-9AE8-22C95A6F9ECE}" type="slidenum">
              <a:rPr kumimoji="0" lang="en-US" altLang="zh-CN" smtClean="0">
                <a:solidFill>
                  <a:srgbClr val="1C1C1C"/>
                </a:solidFill>
              </a:rPr>
              <a:pPr/>
              <a:t>‹#›</a:t>
            </a:fld>
            <a:endParaRPr kumimoji="0" lang="en-US" altLang="zh-CN">
              <a:solidFill>
                <a:srgbClr val="1C1C1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237917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9799F26-E3E5-4F6F-9872-A21358C3BDF9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3275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5"/>
            <a:ext cx="10363200" cy="1362075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6CDEC3-01D6-43B5-924F-A5439378DD1A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8863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422400" y="1447800"/>
            <a:ext cx="5080000" cy="4648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05600" y="1447800"/>
            <a:ext cx="5080000" cy="4648200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4DF9A94-B4FE-4245-B835-B5A8845469EB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271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70" y="1535113"/>
            <a:ext cx="5389033" cy="63976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8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9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4EB713-BF65-4991-9402-E7C225BA0FD4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58384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1836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FF0944-2518-4343-8163-3F075A3F9F1C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05555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5"/>
            <a:ext cx="6815667" cy="5853113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84862E7-97C5-4033-9E8B-39B4E96AAAFB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687175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15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F4CB8B-EACA-4FCC-A826-277379CAD8FE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1251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F13CC36-E690-4505-9461-93C12D4DE0D6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83841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215970" y="457200"/>
            <a:ext cx="2597151" cy="56388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422403" y="457200"/>
            <a:ext cx="7590367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F22E1E-D7C8-4D0F-AC56-51C07BD824F8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684460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1422400" y="457200"/>
            <a:ext cx="10390717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29DED6-B8C8-4242-AC6F-7408EEB1EE75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250743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22400" y="457200"/>
            <a:ext cx="10390717" cy="685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422400" y="1447800"/>
            <a:ext cx="50800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705600" y="1447800"/>
            <a:ext cx="5080000" cy="4648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6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1F88537-C7F8-4E81-BA8B-198248C63DB5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32068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1C1C1C"/>
                </a:solidFill>
              </a:rPr>
              <a:t> </a:t>
            </a: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2755898-8FD4-4964-B4BC-AA646DD2E2DA}" type="slidenum">
              <a:rPr lang="en-US" altLang="zh-CN" smtClean="0">
                <a:solidFill>
                  <a:srgbClr val="1C1C1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977469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C7B680AF-C5C1-499C-8332-B6623D96608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4181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D34C5F8-D23A-4C9B-89C4-004DA083814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225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05C62C5-D8BD-45D3-8DFE-AF86FD4E640A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576037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1465D5D-4317-43F7-96E2-545B31FADE66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15836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52475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4730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E0D20362-9C4A-447B-BF66-33DDC3C33AA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84248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E02A06D-A098-4C3D-976F-6656EA86D461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941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353211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98732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7877264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339119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951191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6380426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291C385-4FD6-40D0-9EF7-B11DD1F280AD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78999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197970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1C1C1C"/>
                </a:solidFill>
              </a:rPr>
              <a:t> </a:t>
            </a: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1C1C1C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52755898-8FD4-4964-B4BC-AA646DD2E2DA}" type="slidenum">
              <a:rPr lang="en-US" altLang="zh-CN" smtClean="0">
                <a:solidFill>
                  <a:srgbClr val="1C1C1C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1C1C1C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690754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C7B680AF-C5C1-499C-8332-B6623D966081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343455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D34C5F8-D23A-4C9B-89C4-004DA0838141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714759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005C62C5-D8BD-45D3-8DFE-AF86FD4E640A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53012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1465D5D-4317-43F7-96E2-545B31FADE66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155610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40546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187D844-4C50-4BDA-8105-700CA4E70F94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08678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E0D20362-9C4A-447B-BF66-33DDC3C33AA1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1481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E02A06D-A098-4C3D-976F-6656EA86D461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936915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71335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948536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6807533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76016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143258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534395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291C385-4FD6-40D0-9EF7-B11DD1F280AD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8605299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824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45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65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55.xml"/><Relationship Id="rId7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68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63.xml"/><Relationship Id="rId5" Type="http://schemas.openxmlformats.org/officeDocument/2006/relationships/slideLayout" Target="../slideLayouts/slideLayout57.xml"/><Relationship Id="rId15" Type="http://schemas.openxmlformats.org/officeDocument/2006/relationships/slideLayout" Target="../slideLayouts/slideLayout67.xml"/><Relationship Id="rId10" Type="http://schemas.openxmlformats.org/officeDocument/2006/relationships/slideLayout" Target="../slideLayouts/slideLayout62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56.xml"/><Relationship Id="rId9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2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8747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754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9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202755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latin typeface="Arial Black" panose="020B0A040201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9739858-C449-4755-96E1-1C35A74F5DBD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  <p:grpSp>
        <p:nvGrpSpPr>
          <p:cNvPr id="2052" name="Group 4"/>
          <p:cNvGrpSpPr>
            <a:grpSpLocks/>
          </p:cNvGrpSpPr>
          <p:nvPr/>
        </p:nvGrpSpPr>
        <p:grpSpPr bwMode="auto">
          <a:xfrm>
            <a:off x="0" y="0"/>
            <a:ext cx="12192000" cy="546100"/>
            <a:chOff x="0" y="0"/>
            <a:chExt cx="5760" cy="344"/>
          </a:xfrm>
        </p:grpSpPr>
        <p:sp>
          <p:nvSpPr>
            <p:cNvPr id="2056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7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8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59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0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1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666699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2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3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64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zh-CN" sz="1350" b="0" i="0" u="none" strike="noStrike" kern="1200" cap="none" spc="0" normalizeH="0" baseline="0" noProof="0">
                <a:ln>
                  <a:noFill/>
                </a:ln>
                <a:solidFill>
                  <a:srgbClr val="9999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053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457200"/>
            <a:ext cx="109728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4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81200"/>
            <a:ext cx="109728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2768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900"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6762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5pPr>
      <a:lvl6pPr marL="342900" algn="l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6pPr>
      <a:lvl7pPr marL="685800" algn="l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sz="3300">
          <a:solidFill>
            <a:schemeClr val="tx1"/>
          </a:solidFill>
          <a:latin typeface="Arial" pitchFamily="34" charset="0"/>
          <a:ea typeface="宋体" pitchFamily="2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¨"/>
        <a:defRPr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anose="05000000000000000000" pitchFamily="2" charset="2"/>
        <a:buChar char="n"/>
        <a:defRPr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D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387351" y="412755"/>
            <a:ext cx="584200" cy="47466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97470" y="412755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52454" y="835030"/>
            <a:ext cx="563033" cy="474663"/>
          </a:xfrm>
          <a:prstGeom prst="rect">
            <a:avLst/>
          </a:prstGeom>
          <a:solidFill>
            <a:schemeClr val="folHlink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1045633" y="835030"/>
            <a:ext cx="491067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0" y="762004"/>
            <a:ext cx="747184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846668" y="304805"/>
            <a:ext cx="42333" cy="10525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21221" y="1095375"/>
            <a:ext cx="10968567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858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422400" y="457200"/>
            <a:ext cx="10390717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北京大学博士学位论文</a:t>
            </a:r>
            <a:r>
              <a:rPr lang="en-US" altLang="zh-CN"/>
              <a:t>Weyl</a:t>
            </a:r>
            <a:r>
              <a:rPr lang="zh-CN" altLang="en-US"/>
              <a:t>变换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22400" y="1447800"/>
            <a:ext cx="103632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7115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219200" y="6553200"/>
            <a:ext cx="2540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050">
                <a:latin typeface="+mn-lt"/>
              </a:defRPr>
            </a:lvl1pPr>
          </a:lstStyle>
          <a:p>
            <a:pPr>
              <a:defRPr/>
            </a:pPr>
            <a:r>
              <a:rPr kumimoji="0" lang="zh-CN" altLang="en-US">
                <a:solidFill>
                  <a:srgbClr val="000000"/>
                </a:solidFill>
              </a:rPr>
              <a:t> </a:t>
            </a: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47116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4704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050">
                <a:latin typeface="+mn-lt"/>
              </a:defRPr>
            </a:lvl1pPr>
          </a:lstStyle>
          <a:p>
            <a:pPr>
              <a:defRPr/>
            </a:pPr>
            <a:endParaRPr kumimoji="0" lang="en-US" altLang="zh-CN">
              <a:solidFill>
                <a:srgbClr val="000000"/>
              </a:solidFill>
            </a:endParaRPr>
          </a:p>
        </p:txBody>
      </p:sp>
      <p:sp>
        <p:nvSpPr>
          <p:cNvPr id="4711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042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50">
                <a:latin typeface="Tahoma" panose="020B0604030504040204" pitchFamily="34" charset="0"/>
              </a:defRPr>
            </a:lvl1pPr>
          </a:lstStyle>
          <a:p>
            <a:fld id="{4ACCFE73-393E-4D60-9ACE-866BED77E233}" type="slidenum">
              <a:rPr kumimoji="0" lang="en-US" altLang="zh-CN" smtClean="0">
                <a:solidFill>
                  <a:srgbClr val="000000"/>
                </a:solidFill>
              </a:rPr>
              <a:pPr/>
              <a:t>‹#›</a:t>
            </a:fld>
            <a:endParaRPr kumimoji="0"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8385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  <p:sldLayoutId id="2147483855" r:id="rId13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5pPr>
      <a:lvl6pPr marL="3429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6pPr>
      <a:lvl7pPr marL="6858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7pPr>
      <a:lvl8pPr marL="10287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8pPr>
      <a:lvl9pPr marL="1371600" algn="l" rtl="0" fontAlgn="base">
        <a:spcBef>
          <a:spcPct val="0"/>
        </a:spcBef>
        <a:spcAft>
          <a:spcPct val="0"/>
        </a:spcAft>
        <a:defRPr kumimoji="1" sz="1800" b="1">
          <a:solidFill>
            <a:schemeClr val="tx2"/>
          </a:solidFill>
          <a:latin typeface="楷体_GB2312" pitchFamily="49" charset="-122"/>
          <a:ea typeface="楷体_GB2312" pitchFamily="49" charset="-122"/>
        </a:defRPr>
      </a:lvl9pPr>
    </p:titleStyle>
    <p:bodyStyle>
      <a:lvl1pPr marL="257175" indent="-257175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7541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7" r:id="rId1"/>
    <p:sldLayoutId id="2147483908" r:id="rId2"/>
    <p:sldLayoutId id="2147483909" r:id="rId3"/>
    <p:sldLayoutId id="2147483910" r:id="rId4"/>
    <p:sldLayoutId id="2147483911" r:id="rId5"/>
    <p:sldLayoutId id="2147483912" r:id="rId6"/>
    <p:sldLayoutId id="2147483913" r:id="rId7"/>
    <p:sldLayoutId id="2147483914" r:id="rId8"/>
    <p:sldLayoutId id="2147483915" r:id="rId9"/>
    <p:sldLayoutId id="2147483916" r:id="rId10"/>
    <p:sldLayoutId id="2147483917" r:id="rId11"/>
    <p:sldLayoutId id="2147483918" r:id="rId12"/>
    <p:sldLayoutId id="2147483919" r:id="rId13"/>
    <p:sldLayoutId id="2147483920" r:id="rId14"/>
    <p:sldLayoutId id="2147483921" r:id="rId15"/>
    <p:sldLayoutId id="2147483922" r:id="rId16"/>
    <p:sldLayoutId id="2147483923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>
                <a:solidFill>
                  <a:srgbClr val="000000"/>
                </a:solidFill>
              </a:rPr>
              <a:t> </a:t>
            </a: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ED32EB6-8C7F-4930-9D70-88425320CFC2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altLang="zh-CN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9564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  <p:sldLayoutId id="2147483936" r:id="rId12"/>
    <p:sldLayoutId id="2147483937" r:id="rId13"/>
    <p:sldLayoutId id="2147483938" r:id="rId14"/>
    <p:sldLayoutId id="2147483939" r:id="rId15"/>
    <p:sldLayoutId id="2147483940" r:id="rId16"/>
    <p:sldLayoutId id="2147483941" r:id="rId17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15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9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60C9B2C-8AC9-46E5-B25B-538A702AF0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1664" y="1988840"/>
            <a:ext cx="6876256" cy="1657350"/>
          </a:xfrm>
          <a:prstGeom prst="rect">
            <a:avLst/>
          </a:prstGeom>
          <a:noFill/>
          <a:ln>
            <a:noFill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75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5pPr>
            <a:lvl6pPr marL="342900" algn="l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6pPr>
            <a:lvl7pPr marL="685800" algn="l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7pPr>
            <a:lvl8pPr marL="1028700" algn="l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8pPr>
            <a:lvl9pPr marL="1371600" algn="l" rtl="0" fontAlgn="base">
              <a:spcBef>
                <a:spcPct val="0"/>
              </a:spcBef>
              <a:spcAft>
                <a:spcPct val="0"/>
              </a:spcAft>
              <a:defRPr sz="3300">
                <a:solidFill>
                  <a:schemeClr val="tx1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150000"/>
              </a:lnSpc>
              <a:defRPr/>
            </a:pPr>
            <a:r>
              <a:rPr lang="zh-CN" altLang="en-US" sz="3200" kern="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第五章</a:t>
            </a:r>
            <a:r>
              <a:rPr lang="zh-CN" altLang="en-US" sz="3200" kern="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br>
              <a:rPr lang="en-US" altLang="zh-CN" sz="3200" i="1" kern="0" dirty="0">
                <a:solidFill>
                  <a:srgbClr val="FFFF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mbria Math" panose="02040503050406030204" pitchFamily="18" charset="0"/>
                <a:ea typeface="黑体" panose="02010609060101010101" pitchFamily="49" charset="-122"/>
              </a:rPr>
            </a:br>
            <a:r>
              <a:rPr lang="zh-CN" altLang="en-US" sz="3200" kern="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中宋" panose="02010600040101010101" pitchFamily="2" charset="-122"/>
                <a:ea typeface="华文中宋" panose="02010600040101010101" pitchFamily="2" charset="-122"/>
              </a:rPr>
              <a:t>范数、序列、级数</a:t>
            </a:r>
          </a:p>
        </p:txBody>
      </p:sp>
    </p:spTree>
    <p:extLst>
      <p:ext uri="{BB962C8B-B14F-4D97-AF65-F5344CB8AC3E}">
        <p14:creationId xmlns:p14="http://schemas.microsoft.com/office/powerpoint/2010/main" val="364877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B2AB9529-2F7C-4540-B691-FC00D519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7C302F-DA2D-4636-92CB-D3FEAE2A400C}" type="slidenum"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altLang="zh-CN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副标题 1">
            <a:extLst>
              <a:ext uri="{FF2B5EF4-FFF2-40B4-BE49-F238E27FC236}">
                <a16:creationId xmlns:a16="http://schemas.microsoft.com/office/drawing/2014/main" id="{FA508B0F-78BB-90A1-0710-D6B34D5CD68E}"/>
              </a:ext>
            </a:extLst>
          </p:cNvPr>
          <p:cNvSpPr txBox="1">
            <a:spLocks/>
          </p:cNvSpPr>
          <p:nvPr/>
        </p:nvSpPr>
        <p:spPr>
          <a:xfrm>
            <a:off x="911424" y="1459765"/>
            <a:ext cx="10153128" cy="828092"/>
          </a:xfrm>
          <a:prstGeom prst="rect">
            <a:avLst/>
          </a:prstGeom>
        </p:spPr>
        <p:txBody>
          <a:bodyPr/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800" kern="12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CH1 </a:t>
            </a:r>
            <a:r>
              <a:rPr lang="zh-CN" altLang="en-US" sz="2800" kern="12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中把向量概念推广到线性空间中。</a:t>
            </a:r>
            <a:endParaRPr lang="en-US" altLang="zh-CN" sz="2800" kern="12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4" name="副标题 1">
            <a:extLst>
              <a:ext uri="{FF2B5EF4-FFF2-40B4-BE49-F238E27FC236}">
                <a16:creationId xmlns:a16="http://schemas.microsoft.com/office/drawing/2014/main" id="{46D8872D-3C27-953F-AB62-051EC1CC7ECF}"/>
              </a:ext>
            </a:extLst>
          </p:cNvPr>
          <p:cNvSpPr txBox="1">
            <a:spLocks/>
          </p:cNvSpPr>
          <p:nvPr/>
        </p:nvSpPr>
        <p:spPr>
          <a:xfrm>
            <a:off x="911424" y="2305787"/>
            <a:ext cx="10153128" cy="1280864"/>
          </a:xfrm>
          <a:prstGeom prst="rect">
            <a:avLst/>
          </a:prstGeom>
        </p:spPr>
        <p:txBody>
          <a:bodyPr/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en-US" altLang="zh-CN" sz="2800" kern="12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CH3 </a:t>
            </a:r>
            <a:r>
              <a:rPr lang="zh-CN" altLang="en-US" sz="2800" kern="12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线性空间中引进内积的概念，对向量赋予向量长度，向量夹角的概念。</a:t>
            </a:r>
            <a:endParaRPr lang="en-US" altLang="zh-CN" sz="2800" kern="1200" dirty="0">
              <a:solidFill>
                <a:srgbClr val="000000"/>
              </a:solidFill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5" name="副标题 1">
            <a:extLst>
              <a:ext uri="{FF2B5EF4-FFF2-40B4-BE49-F238E27FC236}">
                <a16:creationId xmlns:a16="http://schemas.microsoft.com/office/drawing/2014/main" id="{A18E8A38-9373-12BA-9E18-C0C8CB6EA729}"/>
              </a:ext>
            </a:extLst>
          </p:cNvPr>
          <p:cNvSpPr txBox="1">
            <a:spLocks/>
          </p:cNvSpPr>
          <p:nvPr/>
        </p:nvSpPr>
        <p:spPr>
          <a:xfrm>
            <a:off x="911424" y="3545289"/>
            <a:ext cx="10153128" cy="612068"/>
          </a:xfrm>
          <a:prstGeom prst="rect">
            <a:avLst/>
          </a:prstGeom>
        </p:spPr>
        <p:txBody>
          <a:bodyPr/>
          <a:lstStyle>
            <a:lvl1pPr marL="257175" indent="-25717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kumimoji="1"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57213" indent="-2143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kumimoji="1" sz="2100">
                <a:solidFill>
                  <a:schemeClr val="tx1"/>
                </a:solidFill>
                <a:latin typeface="+mn-lt"/>
                <a:ea typeface="+mn-ea"/>
              </a:defRPr>
            </a:lvl2pPr>
            <a:lvl3pPr marL="8572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kumimoji="1" sz="1800">
                <a:solidFill>
                  <a:schemeClr val="tx1"/>
                </a:solidFill>
                <a:latin typeface="+mn-lt"/>
                <a:ea typeface="+mn-ea"/>
              </a:defRPr>
            </a:lvl3pPr>
            <a:lvl4pPr marL="12001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4pPr>
            <a:lvl5pPr marL="1543050" indent="-1714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5pPr>
            <a:lvl6pPr marL="188595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6pPr>
            <a:lvl7pPr marL="222885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7pPr>
            <a:lvl8pPr marL="257175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8pPr>
            <a:lvl9pPr marL="2914650" indent="-17145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kumimoji="1" sz="15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>
              <a:buNone/>
            </a:pPr>
            <a:r>
              <a:rPr lang="zh-CN" altLang="en-US" sz="2800" kern="12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本章中介绍的向量范数是比向量长度更一般的概念。</a:t>
            </a:r>
          </a:p>
        </p:txBody>
      </p:sp>
    </p:spTree>
    <p:extLst>
      <p:ext uri="{BB962C8B-B14F-4D97-AF65-F5344CB8AC3E}">
        <p14:creationId xmlns:p14="http://schemas.microsoft.com/office/powerpoint/2010/main" val="3273375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68E7D-5707-48DA-ACBF-7903B19740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5.1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向量范数</a:t>
            </a:r>
          </a:p>
        </p:txBody>
      </p:sp>
    </p:spTree>
    <p:extLst>
      <p:ext uri="{BB962C8B-B14F-4D97-AF65-F5344CB8AC3E}">
        <p14:creationId xmlns:p14="http://schemas.microsoft.com/office/powerpoint/2010/main" val="2795384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DD6809-C14F-48BD-882B-C4782567DABA}"/>
              </a:ext>
            </a:extLst>
          </p:cNvPr>
          <p:cNvSpPr txBox="1"/>
          <p:nvPr/>
        </p:nvSpPr>
        <p:spPr>
          <a:xfrm>
            <a:off x="1631504" y="661352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5.1.1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向量范数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A52DEC-502C-4350-AD82-0E19BFD3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altLang="zh-CN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4C6A3C-68F7-4DA4-9D08-A178D4508F0C}"/>
                  </a:ext>
                </a:extLst>
              </p:cNvPr>
              <p:cNvSpPr txBox="1"/>
              <p:nvPr/>
            </p:nvSpPr>
            <p:spPr>
              <a:xfrm>
                <a:off x="695400" y="1476542"/>
                <a:ext cx="10657184" cy="39703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定义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1.1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𝑉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是数域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𝐹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（一般为实数域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𝑅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或复数域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𝐶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）上的线性空间，用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表示按照某个法则确定的与向量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𝒙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对应的实数，且满足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（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）非负性：当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𝒙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≠0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400" b="1" i="1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1" i="1" dirty="0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𝒙</m:t>
                        </m:r>
                      </m:e>
                    </m:d>
                    <m:r>
                      <a:rPr lang="en-US" altLang="zh-CN" sz="2400" b="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&gt;0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；</a:t>
                </a:r>
                <a:r>
                  <a:rPr lang="zh-CN" altLang="en-US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当且仅当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𝒙</m:t>
                    </m:r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r>
                      <a:rPr lang="en-US" altLang="zh-CN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𝟎</m:t>
                    </m:r>
                  </m:oMath>
                </a14:m>
                <a:r>
                  <a:rPr lang="zh-CN" altLang="en-US" sz="2400" dirty="0">
                    <a:solidFill>
                      <a:srgbClr val="FF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时，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𝒙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=0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；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（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）齐次性：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𝑘</m:t>
                        </m:r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𝒙</m:t>
                        </m:r>
                      </m:e>
                    </m:d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=|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𝑘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|</m:t>
                    </m:r>
                    <m:d>
                      <m:dPr>
                        <m:begChr m:val="‖"/>
                        <m:endChr m:val="‖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𝑘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为任意数；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（</a:t>
                </a:r>
                <a:r>
                  <a:rPr lang="en-US" altLang="zh-CN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）三角不等式：对于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𝑉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中任何向量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𝒙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</m:t>
                    </m:r>
                    <m:r>
                      <a:rPr lang="en-US" altLang="zh-CN" sz="2400" b="1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𝒚</m:t>
                    </m:r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都有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𝒙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</m:t>
                          </m:r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𝒚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≤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𝒙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400" b="1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1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𝒚</m:t>
                          </m:r>
                        </m:e>
                      </m:d>
                      <m:r>
                        <a:rPr lang="en-US" altLang="zh-CN" sz="2400" b="0" i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.</m:t>
                      </m:r>
                    </m:oMath>
                  </m:oMathPara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则称实数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400" b="1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1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𝒙</m:t>
                        </m:r>
                      </m:e>
                    </m:d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向量</a:t>
                </a:r>
                <a14:m>
                  <m:oMath xmlns:m="http://schemas.openxmlformats.org/officeDocument/2006/math">
                    <m:r>
                      <a:rPr lang="en-US" altLang="zh-CN" sz="2400" b="1" i="1" dirty="0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𝒙</m:t>
                    </m:r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的范数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4C6A3C-68F7-4DA4-9D08-A178D4508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1476542"/>
                <a:ext cx="10657184" cy="3970318"/>
              </a:xfrm>
              <a:prstGeom prst="rect">
                <a:avLst/>
              </a:prstGeom>
              <a:blipFill>
                <a:blip r:embed="rId3"/>
                <a:stretch>
                  <a:fillRect l="-858" r="-229" b="-92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84388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DD6809-C14F-48BD-882B-C4782567DABA}"/>
              </a:ext>
            </a:extLst>
          </p:cNvPr>
          <p:cNvSpPr txBox="1"/>
          <p:nvPr/>
        </p:nvSpPr>
        <p:spPr>
          <a:xfrm>
            <a:off x="1631504" y="661352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5.1.1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向量范数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A52DEC-502C-4350-AD82-0E19BFD3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US" altLang="zh-CN">
              <a:solidFill>
                <a:srgbClr val="000000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44C6A3C-68F7-4DA4-9D08-A178D4508F0C}"/>
              </a:ext>
            </a:extLst>
          </p:cNvPr>
          <p:cNvSpPr txBox="1"/>
          <p:nvPr/>
        </p:nvSpPr>
        <p:spPr>
          <a:xfrm>
            <a:off x="1271464" y="1382684"/>
            <a:ext cx="10657184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两个重要不等式</a:t>
            </a:r>
            <a:endParaRPr lang="zh-CN" altLang="en-US" sz="24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D4C4838-0E8D-E6A9-7BE1-57126C93B0DA}"/>
                  </a:ext>
                </a:extLst>
              </p:cNvPr>
              <p:cNvSpPr txBox="1"/>
              <p:nvPr/>
            </p:nvSpPr>
            <p:spPr>
              <a:xfrm>
                <a:off x="695400" y="1963612"/>
                <a:ext cx="10657184" cy="3201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H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altLang="zh-CN" sz="2400" i="1" dirty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i="1" dirty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o</m:t>
                        </m:r>
                      </m:e>
                    </m:acc>
                  </m:oMath>
                </a14:m>
                <a:r>
                  <a:rPr lang="en-US" altLang="zh-CN" sz="2400" dirty="0" err="1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lder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不等式：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𝑝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&gt;1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𝑞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f>
                      <m:f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fPr>
                      <m:num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𝑝</m:t>
                        </m:r>
                      </m:num>
                      <m:den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𝑝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−1</m:t>
                        </m:r>
                      </m:den>
                    </m:f>
                  </m:oMath>
                </a14:m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，则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40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𝑘</m:t>
                          </m:r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≤</m:t>
                          </m:r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𝑘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𝑝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𝑝</m:t>
                                  </m:r>
                                </m:den>
                              </m:f>
                            </m:sup>
                          </m:sSup>
                          <m:sSup>
                            <m:sSup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𝑘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𝑏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𝑘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𝑞</m:t>
                                          </m:r>
                                        </m:sup>
                                      </m:sSubSup>
                                    </m:e>
                                  </m:nary>
                                </m:e>
                              </m:d>
                            </m:e>
                            <m:sup>
                              <m:f>
                                <m:fPr>
                                  <m:ctrl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𝑞</m:t>
                                  </m:r>
                                </m:den>
                              </m:f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𝑎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𝑘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 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𝑏</m:t>
                        </m:r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𝑘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≥0.</m:t>
                    </m:r>
                  </m:oMath>
                </a14:m>
                <a:endParaRPr lang="zh-CN" altLang="en-US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D4C4838-0E8D-E6A9-7BE1-57126C93B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1963612"/>
                <a:ext cx="10657184" cy="3201133"/>
              </a:xfrm>
              <a:prstGeom prst="rect">
                <a:avLst/>
              </a:prstGeom>
              <a:blipFill>
                <a:blip r:embed="rId3"/>
                <a:stretch>
                  <a:fillRect l="-858" b="-342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9911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DD6809-C14F-48BD-882B-C4782567DABA}"/>
              </a:ext>
            </a:extLst>
          </p:cNvPr>
          <p:cNvSpPr txBox="1"/>
          <p:nvPr/>
        </p:nvSpPr>
        <p:spPr>
          <a:xfrm>
            <a:off x="1631504" y="661352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5.1.1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向量范数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A52DEC-502C-4350-AD82-0E19BFD3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F7C302F-DA2D-4636-92CB-D3FEAE2A400C}" type="slidenum">
              <a:rPr lang="en-US" altLang="zh-CN" smtClean="0">
                <a:solidFill>
                  <a:srgbClr val="000000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altLang="zh-CN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D4C4838-0E8D-E6A9-7BE1-57126C93B0DA}"/>
                  </a:ext>
                </a:extLst>
              </p:cNvPr>
              <p:cNvSpPr txBox="1"/>
              <p:nvPr/>
            </p:nvSpPr>
            <p:spPr>
              <a:xfrm>
                <a:off x="623392" y="1628800"/>
                <a:ext cx="10657184" cy="30182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Minkowski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不等式：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对任何的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𝑝</m:t>
                    </m:r>
                    <m:r>
                      <a:rPr lang="en-US" altLang="zh-CN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≥</m:t>
                    </m:r>
                    <m:r>
                      <a:rPr lang="en-US" altLang="zh-CN" sz="24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1</m:t>
                    </m:r>
                  </m:oMath>
                </a14:m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</a:t>
                </a: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有</a:t>
                </a:r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40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𝑖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+</m:t>
                                          </m:r>
                                          <m:sSub>
                                            <m:sSubPr>
                                              <m:ctrlP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𝑝</m:t>
                              </m:r>
                            </m:den>
                          </m:f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≤</m:t>
                      </m:r>
                      <m:sSup>
                        <m:sSup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𝑖</m:t>
                                  </m:r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𝑝</m:t>
                              </m:r>
                            </m:den>
                          </m:f>
                        </m:sup>
                      </m:sSup>
                      <m:r>
                        <a:rPr lang="en-US" altLang="zh-CN" sz="2400" b="0" i="1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p>
                        <m:sSupPr>
                          <m:ctrlPr>
                            <a:rPr lang="en-US" altLang="zh-CN" sz="2400" i="1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𝑖</m:t>
                                  </m:r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i="1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sz="2400" i="1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b="0" i="1" smtClean="0"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  <m:t>𝑏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i="1"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i="1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i="1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𝑝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altLang="zh-CN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endParaRPr lang="zh-CN" altLang="en-US" sz="2400" dirty="0"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ED4C4838-0E8D-E6A9-7BE1-57126C93B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1628800"/>
                <a:ext cx="10657184" cy="3018262"/>
              </a:xfrm>
              <a:prstGeom prst="rect">
                <a:avLst/>
              </a:prstGeom>
              <a:blipFill>
                <a:blip r:embed="rId3"/>
                <a:stretch>
                  <a:fillRect l="-85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11690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DD6809-C14F-48BD-882B-C4782567DABA}"/>
              </a:ext>
            </a:extLst>
          </p:cNvPr>
          <p:cNvSpPr txBox="1"/>
          <p:nvPr/>
        </p:nvSpPr>
        <p:spPr>
          <a:xfrm>
            <a:off x="1631504" y="661352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5.1.1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向量范数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A52DEC-502C-4350-AD82-0E19BFD3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7C302F-DA2D-4636-92CB-D3FEAE2A400C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4C6A3C-68F7-4DA4-9D08-A178D4508F0C}"/>
                  </a:ext>
                </a:extLst>
              </p:cNvPr>
              <p:cNvSpPr txBox="1"/>
              <p:nvPr/>
            </p:nvSpPr>
            <p:spPr>
              <a:xfrm>
                <a:off x="479376" y="1171023"/>
                <a:ext cx="10657184" cy="23468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定义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1.2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设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向量</a:t>
                </a:r>
                <a14:m>
                  <m:oMath xmlns:m="http://schemas.openxmlformats.org/officeDocument/2006/math">
                    <m:r>
                      <a:rPr lang="en-US" altLang="zh-CN" sz="2400" b="1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𝒙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,⋯,</m:t>
                            </m:r>
                            <m:sSub>
                              <m:sSubPr>
                                <m:ctrlP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𝑇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，对任意数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𝑝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≥1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，称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kumimoji="0" lang="en-US" altLang="zh-CN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1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𝒙</m:t>
                              </m:r>
                            </m:e>
                          </m:d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𝑝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𝑖</m:t>
                                  </m:r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kumimoji="0" lang="en-US" altLang="zh-CN" sz="2400" b="0" i="1" u="none" strike="noStrike" kern="1200" cap="none" spc="0" normalizeH="0" baseline="0" noProof="0" smtClean="0">
                                              <a:ln>
                                                <a:noFill/>
                                              </a:ln>
                                              <a:solidFill>
                                                <a:srgbClr val="000000"/>
                                              </a:solidFill>
                                              <a:effectLst/>
                                              <a:uLnTx/>
                                              <a:uFillTx/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  <a:cs typeface="+mn-cs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kumimoji="0" lang="en-US" altLang="zh-CN" sz="24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  <a:cs typeface="+mn-cs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kumimoji="0" lang="en-US" altLang="zh-CN" sz="24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  <a:cs typeface="+mn-cs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kumimoji="0" lang="en-US" altLang="zh-CN" sz="2400" b="0" i="1" u="none" strike="noStrike" kern="1200" cap="none" spc="0" normalizeH="0" baseline="0" noProof="0" smtClean="0">
                                                  <a:ln>
                                                    <a:noFill/>
                                                  </a:ln>
                                                  <a:solidFill>
                                                    <a:srgbClr val="000000"/>
                                                  </a:solidFill>
                                                  <a:effectLst/>
                                                  <a:uLnTx/>
                                                  <a:uFillTx/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  <a:cs typeface="+mn-cs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𝑝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𝑝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为向量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𝒙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𝑝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-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范数。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4C6A3C-68F7-4DA4-9D08-A178D4508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1171023"/>
                <a:ext cx="10657184" cy="2346861"/>
              </a:xfrm>
              <a:prstGeom prst="rect">
                <a:avLst/>
              </a:prstGeom>
              <a:blipFill>
                <a:blip r:embed="rId3"/>
                <a:stretch>
                  <a:fillRect l="-915" b="-493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75DE71D-8156-9AD7-2C38-DA29F7A67538}"/>
                  </a:ext>
                </a:extLst>
              </p:cNvPr>
              <p:cNvSpPr txBox="1"/>
              <p:nvPr/>
            </p:nvSpPr>
            <p:spPr>
              <a:xfrm>
                <a:off x="609600" y="3429000"/>
                <a:ext cx="10657184" cy="2634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常用的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𝑝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-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范数有三种：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1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）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1-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范数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kumimoji="0" lang="en-US" altLang="zh-CN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𝒙</m:t>
                            </m:r>
                          </m:e>
                        </m:d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𝑖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</m:sup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nary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（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）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2-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范数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𝒙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naryPr>
                              <m:sub>
                                <m:r>
                                  <m:rPr>
                                    <m:brk m:alnAt="23"/>
                                  </m:rP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𝑛</m:t>
                                </m:r>
                              </m:sup>
                              <m:e>
                                <m:sSup>
                                  <m:sSupPr>
                                    <m:ctrlP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begChr m:val="|"/>
                                        <m:endChr m:val="|"/>
                                        <m:ctrlPr>
                                          <a:rPr lang="en-US" altLang="zh-CN" sz="2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CN" sz="2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𝑥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CN" sz="2400" b="0" i="1" smtClean="0">
                                                <a:solidFill>
                                                  <a:srgbClr val="000000"/>
                                                </a:solidFill>
                                                <a:latin typeface="Cambria Math" panose="02040503050406030204" pitchFamily="18" charset="0"/>
                                                <a:ea typeface="华文中宋" panose="02010600040101010101" pitchFamily="2" charset="-122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altLang="zh-CN" sz="2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pPr>
                              <m:e>
                                <m:r>
                                  <a:rPr lang="en-US" altLang="zh-CN" sz="2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𝒙</m:t>
                                </m:r>
                              </m:e>
                              <m:sup>
                                <m:r>
                                  <a:rPr lang="en-US" altLang="zh-CN" sz="2400" b="1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𝑯</m:t>
                                </m:r>
                              </m:sup>
                            </m:sSup>
                            <m:r>
                              <a:rPr lang="en-US" altLang="zh-CN" sz="2400" b="1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𝒙</m:t>
                            </m:r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fPr>
                          <m:num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，</m:t>
                    </m:r>
                  </m:oMath>
                </a14:m>
                <a:r>
                  <a:rPr lang="zh-CN" altLang="en-US" sz="2400" b="0" dirty="0">
                    <a:solidFill>
                      <a:srgbClr val="000000"/>
                    </a:solidFill>
                    <a:ea typeface="华文中宋" panose="02010600040101010101" pitchFamily="2" charset="-122"/>
                  </a:rPr>
                  <a:t>也称为</a:t>
                </a:r>
                <a:r>
                  <a:rPr lang="zh-CN" altLang="en-US" sz="2400" i="0" dirty="0">
                    <a:solidFill>
                      <a:srgbClr val="0000FF"/>
                    </a:solidFill>
                    <a:latin typeface="+mj-lt"/>
                    <a:ea typeface="华文中宋" panose="02010600040101010101" pitchFamily="2" charset="-122"/>
                  </a:rPr>
                  <a:t>欧氏范数</a:t>
                </a:r>
                <a:r>
                  <a:rPr lang="zh-CN" altLang="en-US" sz="2400" i="0" dirty="0">
                    <a:solidFill>
                      <a:srgbClr val="000000"/>
                    </a:solidFill>
                    <a:latin typeface="+mj-lt"/>
                    <a:ea typeface="华文中宋" panose="02010600040101010101" pitchFamily="2" charset="-122"/>
                  </a:rPr>
                  <a:t>。</a:t>
                </a:r>
                <a:endParaRPr lang="en-US" altLang="zh-CN" sz="2400" i="1" dirty="0">
                  <a:solidFill>
                    <a:srgbClr val="000000"/>
                  </a:solidFill>
                  <a:latin typeface="Cambria Math" panose="02040503050406030204" pitchFamily="18" charset="0"/>
                  <a:ea typeface="华文中宋" panose="02010600040101010101" pitchFamily="2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b="0" dirty="0">
                    <a:solidFill>
                      <a:srgbClr val="000000"/>
                    </a:solidFill>
                    <a:ea typeface="华文中宋" panose="02010600040101010101" pitchFamily="2" charset="-122"/>
                  </a:rPr>
                  <a:t>（</a:t>
                </a:r>
                <a:r>
                  <a:rPr lang="en-US" altLang="zh-CN" sz="2400" b="0" dirty="0">
                    <a:solidFill>
                      <a:srgbClr val="000000"/>
                    </a:solidFill>
                    <a:ea typeface="华文中宋" panose="02010600040101010101" pitchFamily="2" charset="-122"/>
                  </a:rPr>
                  <a:t>3</a:t>
                </a:r>
                <a:r>
                  <a:rPr lang="zh-CN" altLang="en-US" sz="2400" b="0" dirty="0">
                    <a:solidFill>
                      <a:srgbClr val="000000"/>
                    </a:solidFill>
                    <a:ea typeface="华文中宋" panose="02010600040101010101" pitchFamily="2" charset="-122"/>
                  </a:rPr>
                  <a:t>）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∞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-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范数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kumimoji="0" lang="en-US" altLang="zh-CN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2400" b="1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𝒙</m:t>
                            </m:r>
                          </m:e>
                        </m:d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∞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func>
                      <m:func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0" lang="en-US" altLang="zh-CN" sz="2400" b="0" i="0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|"/>
                            <m:endChr m:val="|"/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zh-CN" sz="24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,     (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𝑖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=1,2,…,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𝑛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)</m:t>
                    </m:r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75DE71D-8156-9AD7-2C38-DA29F7A67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429000"/>
                <a:ext cx="10657184" cy="2634439"/>
              </a:xfrm>
              <a:prstGeom prst="rect">
                <a:avLst/>
              </a:prstGeom>
              <a:blipFill>
                <a:blip r:embed="rId4"/>
                <a:stretch>
                  <a:fillRect l="-858" b="-208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665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DD6809-C14F-48BD-882B-C4782567DABA}"/>
              </a:ext>
            </a:extLst>
          </p:cNvPr>
          <p:cNvSpPr txBox="1"/>
          <p:nvPr/>
        </p:nvSpPr>
        <p:spPr>
          <a:xfrm>
            <a:off x="1631504" y="661352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5.1.2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向量范数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的等价性</a:t>
            </a:r>
            <a:endParaRPr kumimoji="1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A52DEC-502C-4350-AD82-0E19BFD3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7C302F-DA2D-4636-92CB-D3FEAE2A400C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4C6A3C-68F7-4DA4-9D08-A178D4508F0C}"/>
                  </a:ext>
                </a:extLst>
              </p:cNvPr>
              <p:cNvSpPr txBox="1"/>
              <p:nvPr/>
            </p:nvSpPr>
            <p:spPr>
              <a:xfrm>
                <a:off x="695400" y="1844824"/>
                <a:ext cx="10369152" cy="1853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定理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1.1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𝑉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维线性空间，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𝛽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为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任意两种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向量范数（不限于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𝑝</m:t>
                    </m:r>
                  </m:oMath>
                </a14:m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-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范数），则总存在正数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，对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𝑉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中所有向量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𝑥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∈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𝑉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恒有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𝑐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𝛽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≤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𝛼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≤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𝑐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𝛽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4C6A3C-68F7-4DA4-9D08-A178D4508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1844824"/>
                <a:ext cx="10369152" cy="1853071"/>
              </a:xfrm>
              <a:prstGeom prst="rect">
                <a:avLst/>
              </a:prstGeom>
              <a:blipFill>
                <a:blip r:embed="rId3"/>
                <a:stretch>
                  <a:fillRect l="-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54520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68E7D-5707-48DA-ACBF-7903B19740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4783" y="1700808"/>
            <a:ext cx="5962434" cy="1515533"/>
          </a:xfrm>
        </p:spPr>
        <p:txBody>
          <a:bodyPr>
            <a:normAutofit/>
          </a:bodyPr>
          <a:lstStyle/>
          <a:p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5.2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矩阵范数</a:t>
            </a:r>
          </a:p>
        </p:txBody>
      </p:sp>
    </p:spTree>
    <p:extLst>
      <p:ext uri="{BB962C8B-B14F-4D97-AF65-F5344CB8AC3E}">
        <p14:creationId xmlns:p14="http://schemas.microsoft.com/office/powerpoint/2010/main" val="3149504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DD6809-C14F-48BD-882B-C4782567DABA}"/>
              </a:ext>
            </a:extLst>
          </p:cNvPr>
          <p:cNvSpPr txBox="1"/>
          <p:nvPr/>
        </p:nvSpPr>
        <p:spPr>
          <a:xfrm>
            <a:off x="1631504" y="661352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5.2.1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矩阵范数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A52DEC-502C-4350-AD82-0E19BFD3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7C302F-DA2D-4636-92CB-D3FEAE2A400C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4C6A3C-68F7-4DA4-9D08-A178D4508F0C}"/>
                  </a:ext>
                </a:extLst>
              </p:cNvPr>
              <p:cNvSpPr txBox="1"/>
              <p:nvPr/>
            </p:nvSpPr>
            <p:spPr>
              <a:xfrm>
                <a:off x="623392" y="1268760"/>
                <a:ext cx="10657184" cy="50783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定义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2.1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对于任何一个矩阵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𝑨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∈</m:t>
                    </m:r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𝐶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𝑚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×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，用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𝑨</m:t>
                        </m:r>
                      </m:e>
                    </m:d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表示按照某个法则确定的与矩阵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𝑨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对应的实数，且满足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1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）非负性：当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𝑨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≠0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kumimoji="0" lang="en-US" altLang="zh-CN" sz="24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4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𝑨</m:t>
                        </m:r>
                      </m:e>
                    </m:d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&gt;0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；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当且仅当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𝑨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𝟎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时，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𝑨</m:t>
                        </m:r>
                      </m:e>
                    </m:d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=0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；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2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）齐次性：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𝑘</m:t>
                        </m:r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𝑨</m:t>
                        </m:r>
                      </m:e>
                    </m:d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=|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𝑘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|</m:t>
                    </m:r>
                    <m:d>
                      <m:dPr>
                        <m:begChr m:val="‖"/>
                        <m:endChr m:val="‖"/>
                        <m:ctrlP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𝑨</m:t>
                        </m:r>
                      </m:e>
                    </m:d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𝑘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为任意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复数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；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3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）三角不等式：对于任何两个同类型矩阵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𝑨</m:t>
                    </m:r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,</m:t>
                    </m:r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𝑩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都有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𝑨</m:t>
                          </m:r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+</m:t>
                          </m:r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𝑩</m:t>
                          </m:r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≤</m:t>
                      </m:r>
                      <m:d>
                        <m:dPr>
                          <m:begChr m:val="‖"/>
                          <m:endChr m:val="‖"/>
                          <m:ctrlP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𝑨</m:t>
                          </m:r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+</m:t>
                      </m:r>
                      <m:d>
                        <m:dPr>
                          <m:begChr m:val="‖"/>
                          <m:endChr m:val="‖"/>
                          <m:ctrlP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𝑩</m:t>
                          </m:r>
                        </m:e>
                      </m:d>
                    </m:oMath>
                  </m:oMathPara>
                </a14:m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4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）矩阵乘法相容性：若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𝑨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与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𝑩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可乘，有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𝑨𝑩</m:t>
                          </m:r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≤</m:t>
                      </m:r>
                      <m:d>
                        <m:dPr>
                          <m:begChr m:val="‖"/>
                          <m:endChr m:val="‖"/>
                          <m:ctrlP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𝑨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1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𝑩</m:t>
                          </m:r>
                        </m:e>
                      </m:d>
                    </m:oMath>
                  </m:oMathPara>
                </a14:m>
                <a:endParaRPr kumimoji="0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则称对应于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𝑨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的这个实数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400" b="1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𝑨</m:t>
                        </m:r>
                      </m:e>
                    </m:d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 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矩阵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𝑨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的矩阵范数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。</a:t>
                </a: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4C6A3C-68F7-4DA4-9D08-A178D4508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1268760"/>
                <a:ext cx="10657184" cy="5078313"/>
              </a:xfrm>
              <a:prstGeom prst="rect">
                <a:avLst/>
              </a:prstGeom>
              <a:blipFill>
                <a:blip r:embed="rId3"/>
                <a:stretch>
                  <a:fillRect l="-858" b="-6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32993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DD6809-C14F-48BD-882B-C4782567DABA}"/>
              </a:ext>
            </a:extLst>
          </p:cNvPr>
          <p:cNvSpPr txBox="1"/>
          <p:nvPr/>
        </p:nvSpPr>
        <p:spPr>
          <a:xfrm>
            <a:off x="1631504" y="661352"/>
            <a:ext cx="25922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5.2.1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矩阵范数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A52DEC-502C-4350-AD82-0E19BFD3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7C302F-DA2D-4636-92CB-D3FEAE2A400C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4C6A3C-68F7-4DA4-9D08-A178D4508F0C}"/>
                  </a:ext>
                </a:extLst>
              </p:cNvPr>
              <p:cNvSpPr txBox="1"/>
              <p:nvPr/>
            </p:nvSpPr>
            <p:spPr>
              <a:xfrm>
                <a:off x="479376" y="1424282"/>
                <a:ext cx="10657184" cy="123918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例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1.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试证：对于</a:t>
                </a:r>
                <a14:m>
                  <m:oMath xmlns:m="http://schemas.openxmlformats.org/officeDocument/2006/math">
                    <m:r>
                      <a:rPr kumimoji="0" lang="en-US" altLang="zh-CN" sz="2400" b="1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𝑨</m:t>
                    </m:r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d>
                      <m:d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𝑎</m:t>
                            </m:r>
                          </m:e>
                          <m:sub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∈</m:t>
                    </m:r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𝐶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𝑚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×</m:t>
                        </m:r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kumimoji="0" lang="en-US" altLang="zh-CN" sz="24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dPr>
                      <m:e>
                        <m:r>
                          <a:rPr kumimoji="0" lang="en-US" altLang="zh-CN" sz="2400" b="1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𝑨</m:t>
                        </m:r>
                      </m:e>
                    </m:d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naryPr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𝑖</m:t>
                        </m:r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=1</m:t>
                        </m:r>
                      </m:sub>
                      <m:sup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𝑚</m:t>
                        </m:r>
                      </m:sup>
                      <m:e>
                        <m:nary>
                          <m:naryPr>
                            <m:chr m:val="∑"/>
                            <m:ctrlP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naryPr>
                          <m:sub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𝑗</m:t>
                            </m:r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=1</m:t>
                            </m:r>
                          </m:sub>
                          <m:sup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𝑛</m:t>
                            </m:r>
                          </m:sup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kumimoji="0" lang="en-US" altLang="zh-CN" sz="2400" b="0" i="1" u="none" strike="noStrike" kern="1200" cap="none" spc="0" normalizeH="0" baseline="0" noProof="0" dirty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  <a:cs typeface="+mn-cs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kumimoji="0" lang="en-US" altLang="zh-CN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</m:ctrlPr>
                                  </m:sSubPr>
                                  <m:e>
                                    <m:r>
                                      <a:rPr kumimoji="0" lang="en-US" altLang="zh-CN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𝑎</m:t>
                                    </m:r>
                                  </m:e>
                                  <m:sub>
                                    <m:r>
                                      <a:rPr kumimoji="0" lang="en-US" altLang="zh-CN" sz="2400" b="0" i="1" u="none" strike="noStrike" kern="1200" cap="none" spc="0" normalizeH="0" baseline="0" noProof="0" dirty="0" smtClean="0">
                                        <a:ln>
                                          <a:noFill/>
                                        </a:ln>
                                        <a:solidFill>
                                          <a:srgbClr val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  <a:cs typeface="+mn-cs"/>
                                      </a:rPr>
                                      <m:t>𝑖𝑗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</m:e>
                    </m:nary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是矩阵范数。它是向量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1-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范数的形式推广。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4C6A3C-68F7-4DA4-9D08-A178D4508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1424282"/>
                <a:ext cx="10657184" cy="1239185"/>
              </a:xfrm>
              <a:prstGeom prst="rect">
                <a:avLst/>
              </a:prstGeom>
              <a:blipFill>
                <a:blip r:embed="rId3"/>
                <a:stretch>
                  <a:fillRect l="-915" b="-103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75DE71D-8156-9AD7-2C38-DA29F7A67538}"/>
                  </a:ext>
                </a:extLst>
              </p:cNvPr>
              <p:cNvSpPr txBox="1"/>
              <p:nvPr/>
            </p:nvSpPr>
            <p:spPr>
              <a:xfrm>
                <a:off x="479376" y="2964732"/>
                <a:ext cx="11233248" cy="31659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例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2.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en-US" altLang="zh-CN" sz="2400" dirty="0" err="1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Frobenius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范数：若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𝑨</m:t>
                    </m:r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d>
                      <m:d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𝑖𝑗</m:t>
                            </m:r>
                          </m:sub>
                        </m:sSub>
                      </m:e>
                    </m:d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p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，规定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m:rPr>
                              <m:sty m:val="p"/>
                            </m:rPr>
                            <a:rPr kumimoji="0" lang="en-US" altLang="zh-CN" sz="2400" b="0" i="0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F</m:t>
                          </m:r>
                        </m:sub>
                      </m:sSub>
                      <m:r>
                        <a:rPr kumimoji="0" lang="en-US" altLang="zh-CN" sz="24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p>
                        <m:sSup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p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𝑖</m:t>
                                      </m:r>
                                      <m: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sz="2400" i="1" dirty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𝑚</m:t>
                                      </m:r>
                                    </m:sup>
                                    <m:e>
                                      <m:nary>
                                        <m:naryPr>
                                          <m:chr m:val="∑"/>
                                          <m:ctrlPr>
                                            <a:rPr lang="en-US" altLang="zh-CN" sz="24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naryPr>
                                        <m:sub>
                                          <m:r>
                                            <a:rPr lang="en-US" altLang="zh-CN" sz="24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𝑗</m:t>
                                          </m:r>
                                          <m:r>
                                            <a:rPr lang="en-US" altLang="zh-CN" sz="24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=1</m:t>
                                          </m:r>
                                        </m:sub>
                                        <m:sup>
                                          <m:r>
                                            <a:rPr lang="en-US" altLang="zh-CN" sz="2400" i="1" dirty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𝑛</m:t>
                                          </m:r>
                                        </m:sup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sz="2400" i="1" dirty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sz="2400" i="1" dirty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华文中宋" panose="02010600040101010101" pitchFamily="2" charset="-122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400" i="1" dirty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华文中宋" panose="02010600040101010101" pitchFamily="2" charset="-122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400" i="1" dirty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华文中宋" panose="02010600040101010101" pitchFamily="2" charset="-122"/>
                                                    </a:rPr>
                                                    <m:t>𝑖𝑗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</m:nary>
                                    </m:e>
                                  </m:nary>
                                </m:e>
                                <m:sup>
                                  <m:r>
                                    <a:rPr lang="en-US" altLang="zh-CN" sz="2400" b="0" i="1" dirty="0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fPr>
                            <m:num>
                              <m:r>
                                <a:rPr kumimoji="0" lang="en-US" altLang="zh-CN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0" lang="en-US" altLang="zh-CN" sz="2400" b="0" i="0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可以证明：上式所确定的数满足范数定义中的四个性质。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F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为矩阵的</a:t>
                </a:r>
                <a:r>
                  <a:rPr kumimoji="0" lang="en-US" altLang="zh-CN" sz="2400" b="0" i="0" u="none" strike="noStrike" kern="1200" cap="none" spc="0" normalizeH="0" baseline="0" noProof="0" dirty="0" err="1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Frobenius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范数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，是向量范数中欧氏范数的形式推广。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675DE71D-8156-9AD7-2C38-DA29F7A67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2964732"/>
                <a:ext cx="11233248" cy="3165931"/>
              </a:xfrm>
              <a:prstGeom prst="rect">
                <a:avLst/>
              </a:prstGeom>
              <a:blipFill>
                <a:blip r:embed="rId4"/>
                <a:stretch>
                  <a:fillRect l="-869" b="-32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133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4ADD6809-C14F-48BD-882B-C4782567DABA}"/>
              </a:ext>
            </a:extLst>
          </p:cNvPr>
          <p:cNvSpPr txBox="1"/>
          <p:nvPr/>
        </p:nvSpPr>
        <p:spPr>
          <a:xfrm>
            <a:off x="1631504" y="661352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5.2.2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矩阵范数的等价性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D0A52DEC-502C-4350-AD82-0E19BFD3F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F7C302F-DA2D-4636-92CB-D3FEAE2A400C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4C6A3C-68F7-4DA4-9D08-A178D4508F0C}"/>
                  </a:ext>
                </a:extLst>
              </p:cNvPr>
              <p:cNvSpPr txBox="1"/>
              <p:nvPr/>
            </p:nvSpPr>
            <p:spPr>
              <a:xfrm>
                <a:off x="695400" y="1844824"/>
                <a:ext cx="10369152" cy="18530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定理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2.1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𝛼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𝛽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为任意两种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矩阵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范数，则总存在正数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𝑐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，对于任意矩阵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恒有</a:t>
                </a:r>
                <a:endParaRPr lang="en-US" altLang="zh-CN" sz="2400" dirty="0">
                  <a:solidFill>
                    <a:srgbClr val="000000"/>
                  </a:solidFill>
                  <a:latin typeface="Cambria Math" panose="02040503050406030204" pitchFamily="18" charset="0"/>
                  <a:ea typeface="华文中宋" panose="02010600040101010101" pitchFamily="2" charset="-122"/>
                </a:endParaRPr>
              </a:p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𝑐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𝛽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≤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𝛼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≤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𝑐</m:t>
                          </m:r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𝛽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.</m:t>
                      </m:r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744C6A3C-68F7-4DA4-9D08-A178D4508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1844824"/>
                <a:ext cx="10369152" cy="1853071"/>
              </a:xfrm>
              <a:prstGeom prst="rect">
                <a:avLst/>
              </a:prstGeom>
              <a:blipFill>
                <a:blip r:embed="rId3"/>
                <a:stretch>
                  <a:fillRect l="-8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19049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268E7D-5707-48DA-ACBF-7903B19740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5.3 </a:t>
            </a:r>
            <a:r>
              <a:rPr lang="zh-CN" altLang="en-US" sz="3200" dirty="0">
                <a:latin typeface="华文中宋" panose="02010600040101010101" pitchFamily="2" charset="-122"/>
                <a:ea typeface="华文中宋" panose="02010600040101010101" pitchFamily="2" charset="-122"/>
              </a:rPr>
              <a:t>诱导范数（算子范数）</a:t>
            </a:r>
          </a:p>
        </p:txBody>
      </p:sp>
    </p:spTree>
    <p:extLst>
      <p:ext uri="{BB962C8B-B14F-4D97-AF65-F5344CB8AC3E}">
        <p14:creationId xmlns:p14="http://schemas.microsoft.com/office/powerpoint/2010/main" val="625425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613606" y="616110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5.3.1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诱导范数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14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33E2182-6C33-4018-E790-85C50489B872}"/>
                  </a:ext>
                </a:extLst>
              </p:cNvPr>
              <p:cNvSpPr txBox="1"/>
              <p:nvPr/>
            </p:nvSpPr>
            <p:spPr>
              <a:xfrm>
                <a:off x="623392" y="1268760"/>
                <a:ext cx="10225136" cy="39049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设</a:t>
                </a:r>
                <a14:m>
                  <m:oMath xmlns:m="http://schemas.openxmlformats.org/officeDocument/2006/math"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p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 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𝑥</m:t>
                    </m:r>
                    <m:r>
                      <a:rPr lang="en-US" altLang="zh-CN" sz="240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p>
                      <m:sSup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p>
                        <m:r>
                          <a:rPr lang="en-US" altLang="zh-CN" sz="240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，若已知矩阵范数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，可将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𝐴𝑥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作为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𝑛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×1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𝑚</m:t>
                    </m:r>
                    <m:r>
                      <a:rPr lang="en-US" altLang="zh-CN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×1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矩阵，因此根据矩阵范数的相容性应有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‖"/>
                          <m:endChr m:val="‖"/>
                          <m:ctrlPr>
                            <a:rPr lang="en-US" altLang="zh-CN" sz="24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𝐴𝑥</m:t>
                          </m:r>
                        </m:e>
                      </m:d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≤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𝐴</m:t>
                          </m:r>
                        </m:e>
                      </m:d>
                      <m:d>
                        <m:dPr>
                          <m:begChr m:val="‖"/>
                          <m:endChr m:val="‖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但是，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𝐴𝑥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终究是向量，若取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dirty="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𝐴𝑥</m:t>
                            </m:r>
                          </m:e>
                        </m:d>
                      </m:e>
                      <m:sub>
                        <m:r>
                          <a:rPr lang="en-US" altLang="zh-CN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是向量范数，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</m:d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是矩阵范数，则不等式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𝐴𝑥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≤</m:t>
                      </m:r>
                      <m:d>
                        <m:dPr>
                          <m:begChr m:val="‖"/>
                          <m:endChr m:val="‖"/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𝐴</m:t>
                          </m:r>
                        </m:e>
                      </m:d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是否仍能成立？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33E2182-6C33-4018-E790-85C50489B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1268760"/>
                <a:ext cx="10225136" cy="3904915"/>
              </a:xfrm>
              <a:prstGeom prst="rect">
                <a:avLst/>
              </a:prstGeom>
              <a:blipFill>
                <a:blip r:embed="rId2"/>
                <a:stretch>
                  <a:fillRect l="-894" r="-3874" b="-26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文本框 4">
            <a:extLst>
              <a:ext uri="{FF2B5EF4-FFF2-40B4-BE49-F238E27FC236}">
                <a16:creationId xmlns:a16="http://schemas.microsoft.com/office/drawing/2014/main" id="{5ED3AF01-EA1D-C797-D83E-202C8D79BF6B}"/>
              </a:ext>
            </a:extLst>
          </p:cNvPr>
          <p:cNvSpPr txBox="1"/>
          <p:nvPr/>
        </p:nvSpPr>
        <p:spPr>
          <a:xfrm>
            <a:off x="623392" y="5298776"/>
            <a:ext cx="10225136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这就是向量范数与矩阵范数的相容性。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613606" y="616110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5.3.1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诱导范数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15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33E2182-6C33-4018-E790-85C50489B872}"/>
                  </a:ext>
                </a:extLst>
              </p:cNvPr>
              <p:cNvSpPr txBox="1"/>
              <p:nvPr/>
            </p:nvSpPr>
            <p:spPr>
              <a:xfrm>
                <a:off x="518780" y="1259042"/>
                <a:ext cx="10225136" cy="24061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定义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3.1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是向量范数，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是矩阵范数，若对于任何矩阵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与向量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𝑥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都有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𝐴𝑥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≤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𝛽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en-US" altLang="zh-CN" sz="2400" b="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则称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𝛽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为与向量范数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相容的矩阵范数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33E2182-6C33-4018-E790-85C50489B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780" y="1259042"/>
                <a:ext cx="10225136" cy="2406172"/>
              </a:xfrm>
              <a:prstGeom prst="rect">
                <a:avLst/>
              </a:prstGeom>
              <a:blipFill>
                <a:blip r:embed="rId2"/>
                <a:stretch>
                  <a:fillRect l="-894" b="-355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D684F5B1-D1B9-27A7-F21C-486DD85324D7}"/>
              </a:ext>
            </a:extLst>
          </p:cNvPr>
          <p:cNvSpPr txBox="1"/>
          <p:nvPr/>
        </p:nvSpPr>
        <p:spPr>
          <a:xfrm>
            <a:off x="518780" y="3652076"/>
            <a:ext cx="10225136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</a:t>
            </a:r>
            <a:r>
              <a:rPr lang="en-US" altLang="zh-CN" sz="2400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1. 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试证：矩阵的</a:t>
            </a:r>
            <a:r>
              <a:rPr lang="en-US" altLang="zh-CN" sz="2400" dirty="0" err="1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Frobenius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范数与向量的</a:t>
            </a:r>
            <a:r>
              <a:rPr lang="en-US" altLang="zh-CN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2-</a:t>
            </a:r>
            <a:r>
              <a:rPr lang="zh-CN" altLang="en-US" sz="2400" dirty="0">
                <a:solidFill>
                  <a:srgbClr val="00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范数相容。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3CC2848-54E6-83BF-1719-87AA257C67B1}"/>
                  </a:ext>
                </a:extLst>
              </p:cNvPr>
              <p:cNvSpPr txBox="1"/>
              <p:nvPr/>
            </p:nvSpPr>
            <p:spPr>
              <a:xfrm>
                <a:off x="519541" y="4259260"/>
                <a:ext cx="10225136" cy="2039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证明：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因为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𝐹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𝑖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𝑚</m:t>
                                  </m:r>
                                </m:sup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𝑗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sz="2400" b="0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sz="2400" b="0" i="1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华文中宋" panose="02010600040101010101" pitchFamily="2" charset="-122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400" b="0" i="1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华文中宋" panose="02010600040101010101" pitchFamily="2" charset="-122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400" b="0" i="1" smtClean="0">
                                                      <a:solidFill>
                                                        <a:srgbClr val="000000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华文中宋" panose="02010600040101010101" pitchFamily="2" charset="-122"/>
                                                    </a:rPr>
                                                    <m:t>𝑖𝑗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sz="2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,             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p>
                        <m:sSup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𝑖</m:t>
                                  </m:r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b="0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b="0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  <m:t>𝑥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d>
                        </m:e>
                        <m:sup>
                          <m:f>
                            <m:fPr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fPr>
                            <m:num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zh-CN" altLang="en-US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03CC2848-54E6-83BF-1719-87AA257C6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541" y="4259260"/>
                <a:ext cx="10225136" cy="2039084"/>
              </a:xfrm>
              <a:prstGeom prst="rect">
                <a:avLst/>
              </a:prstGeom>
              <a:blipFill>
                <a:blip r:embed="rId3"/>
                <a:stretch>
                  <a:fillRect l="-8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3205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3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613606" y="616110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zh-CN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5.3.1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诱导范数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1FBE21-B40B-4B64-ABBE-395E3EC7A610}" type="slidenum">
              <a:rPr kumimoji="0" lang="en-US" altLang="zh-CN" smtClean="0">
                <a:solidFill>
                  <a:srgbClr val="000000"/>
                </a:solidFill>
              </a:rPr>
              <a:pPr/>
              <a:t>16</a:t>
            </a:fld>
            <a:endParaRPr kumimoji="0" lang="en-US" altLang="zh-CN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33E2182-6C33-4018-E790-85C50489B872}"/>
                  </a:ext>
                </a:extLst>
              </p:cNvPr>
              <p:cNvSpPr txBox="1"/>
              <p:nvPr/>
            </p:nvSpPr>
            <p:spPr>
              <a:xfrm>
                <a:off x="695400" y="1268760"/>
                <a:ext cx="10441160" cy="4759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 根据</a:t>
                </a:r>
                <a:r>
                  <a:rPr lang="en-US" altLang="zh-CN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H</a:t>
                </a:r>
                <a14:m>
                  <m:oMath xmlns:m="http://schemas.openxmlformats.org/officeDocument/2006/math">
                    <m:acc>
                      <m:accPr>
                        <m:chr m:val="̈"/>
                        <m:ctrlPr>
                          <a:rPr lang="en-US" altLang="zh-CN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altLang="zh-CN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o</m:t>
                        </m:r>
                      </m:e>
                    </m:acc>
                  </m:oMath>
                </a14:m>
                <a:r>
                  <a:rPr lang="en-US" altLang="zh-CN" sz="2400" dirty="0" err="1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lder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不等式</a:t>
                </a:r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𝐴𝑥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p>
                      </m:sSubSup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𝑗</m:t>
                                      </m:r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𝑎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𝑖𝑗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</m:e>
                            <m:sup>
                              <m: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US" altLang="zh-CN" sz="2400" b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                                       ≤</m:t>
                      </m:r>
                      <m:nary>
                        <m:naryPr>
                          <m:chr m:val="∑"/>
                          <m:ctrlP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naryPr>
                        <m:sub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𝑖</m:t>
                          </m:r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=1</m:t>
                          </m:r>
                        </m:sub>
                        <m:sup>
                          <m:r>
                            <a:rPr lang="en-US" altLang="zh-CN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𝑚</m:t>
                          </m:r>
                        </m:sup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CN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𝑗</m:t>
                                      </m:r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sz="2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华文中宋" panose="02010600040101010101" pitchFamily="2" charset="-122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华文中宋" panose="02010600040101010101" pitchFamily="2" charset="-122"/>
                                                    </a:rPr>
                                                    <m:t>𝑎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华文中宋" panose="02010600040101010101" pitchFamily="2" charset="-122"/>
                                                    </a:rPr>
                                                    <m:t>𝑖𝑗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  <m:d>
                                <m:dPr>
                                  <m:ctrlPr>
                                    <a:rPr lang="en-US" altLang="zh-CN" sz="2400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𝑗</m:t>
                                      </m:r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=1</m:t>
                                      </m:r>
                                    </m:sub>
                                    <m:sup>
                                      <m:r>
                                        <a:rPr lang="en-US" altLang="zh-CN" sz="2400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𝑛</m:t>
                                      </m:r>
                                    </m:sup>
                                    <m:e>
                                      <m:sSup>
                                        <m:sSupPr>
                                          <m:ctrlP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sSupPr>
                                        <m:e>
                                          <m:d>
                                            <m:dPr>
                                              <m:begChr m:val="|"/>
                                              <m:endChr m:val="|"/>
                                              <m:ctrlPr>
                                                <a:rPr lang="en-US" altLang="zh-CN" sz="2400" b="0" i="1" smtClean="0">
                                                  <a:solidFill>
                                                    <a:schemeClr val="tx1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</m:ctrlPr>
                                            </m:dPr>
                                            <m:e>
                                              <m:sSub>
                                                <m:sSubPr>
                                                  <m:ctrlPr>
                                                    <a:rPr lang="en-US" altLang="zh-CN" sz="2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华文中宋" panose="02010600040101010101" pitchFamily="2" charset="-122"/>
                                                    </a:rPr>
                                                  </m:ctrlPr>
                                                </m:sSubPr>
                                                <m:e>
                                                  <m:r>
                                                    <a:rPr lang="en-US" altLang="zh-CN" sz="2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华文中宋" panose="02010600040101010101" pitchFamily="2" charset="-122"/>
                                                    </a:rPr>
                                                    <m:t>𝑥</m:t>
                                                  </m:r>
                                                </m:e>
                                                <m:sub>
                                                  <m:r>
                                                    <a:rPr lang="en-US" altLang="zh-CN" sz="2400" b="0" i="1" smtClean="0">
                                                      <a:solidFill>
                                                        <a:schemeClr val="tx1"/>
                                                      </a:solidFill>
                                                      <a:latin typeface="Cambria Math" panose="02040503050406030204" pitchFamily="18" charset="0"/>
                                                      <a:ea typeface="华文中宋" panose="02010600040101010101" pitchFamily="2" charset="-122"/>
                                                    </a:rPr>
                                                    <m:t>𝑗</m:t>
                                                  </m:r>
                                                </m:sub>
                                              </m:sSub>
                                            </m:e>
                                          </m:d>
                                        </m:e>
                                        <m:sup>
                                          <m:r>
                                            <a:rPr lang="en-US" altLang="zh-CN" sz="2400" b="0" i="1" smtClean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e>
                                  </m:nary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altLang="zh-CN" sz="2400" b="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                                                             </m:t>
                      </m:r>
                      <m:r>
                        <a:rPr lang="en-US" altLang="zh-CN" sz="2400" i="1" dirty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𝑖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𝑚</m:t>
                              </m:r>
                            </m:sup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naryPr>
                                <m:sub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𝑗</m:t>
                                  </m:r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=1</m:t>
                                  </m:r>
                                </m:sub>
                                <m:sup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𝑛</m:t>
                                  </m:r>
                                </m:sup>
                                <m:e>
                                  <m:sSup>
                                    <m:sSupPr>
                                      <m:ctrlP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zh-CN" sz="2400" b="0" i="1" dirty="0" smtClean="0"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zh-CN" sz="2400" b="0" i="1" dirty="0" smtClean="0"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  <m:t>𝑎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zh-CN" sz="2400" b="0" i="1" dirty="0" smtClean="0"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  <m:t>𝑖𝑗</m:t>
                                              </m:r>
                                            </m:sub>
                                          </m:sSub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e>
                          </m:nary>
                        </m:e>
                      </m:d>
                      <m:d>
                        <m:d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naryPr>
                            <m:sub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𝑗</m:t>
                              </m:r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altLang="zh-CN" sz="2400" b="0" i="1" dirty="0" smtClean="0"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US" altLang="zh-CN" sz="2400" b="0" i="1" dirty="0" smtClean="0"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𝑗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CN" sz="2400" b="0" i="1" dirty="0" smtClean="0"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d>
                      <m:r>
                        <a:rPr lang="en-US" altLang="zh-CN" sz="2400" b="0" i="1" dirty="0" smtClean="0"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bSup>
                        <m:sSubSup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𝐹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p>
                      </m:sSubSup>
                      <m:sSubSup>
                        <m:sSubSupPr>
                          <m:ctrlP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Sup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dirty="0" smtClean="0"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𝑥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400" b="0" i="1" dirty="0" smtClean="0"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en-US" altLang="zh-CN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2400" dirty="0"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于是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𝐴𝑥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𝐹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endParaRPr lang="zh-CN" altLang="en-US" sz="2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33E2182-6C33-4018-E790-85C50489B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00" y="1268760"/>
                <a:ext cx="10441160" cy="4759829"/>
              </a:xfrm>
              <a:prstGeom prst="rect">
                <a:avLst/>
              </a:prstGeom>
              <a:blipFill>
                <a:blip r:embed="rId2"/>
                <a:stretch>
                  <a:fillRect l="-876" b="-19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656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613606" y="616110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5.3.1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诱导范数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33E2182-6C33-4018-E790-85C50489B872}"/>
                  </a:ext>
                </a:extLst>
              </p:cNvPr>
              <p:cNvSpPr txBox="1"/>
              <p:nvPr/>
            </p:nvSpPr>
            <p:spPr>
              <a:xfrm>
                <a:off x="479376" y="1189846"/>
                <a:ext cx="10225136" cy="19114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定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理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3.1 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设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𝛼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是向量范数，</a:t>
                </a:r>
                <a14:m>
                  <m:oMath xmlns:m="http://schemas.openxmlformats.org/officeDocument/2006/math">
                    <m:r>
                      <a:rPr kumimoji="0" lang="zh-CN" alt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则</m:t>
                    </m:r>
                  </m:oMath>
                </a14:m>
                <a:endParaRPr kumimoji="0" lang="en-US" altLang="zh-CN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华文中宋" panose="02010600040101010101" pitchFamily="2" charset="-122"/>
                  <a:cs typeface="+mn-cs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limLow>
                        <m:limLow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max</m:t>
                          </m:r>
                          <m: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 </m:t>
                          </m:r>
                        </m:e>
                        <m:lim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≠0</m:t>
                          </m:r>
                        </m:lim>
                      </m:limLow>
                      <m:f>
                        <m:f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func>
                                <m:funcPr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funcPr>
                                <m:fName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 </m:t>
                                  </m:r>
                                </m:fName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kumimoji="0" lang="en-US" altLang="zh-CN" sz="2400" b="0" i="1" u="none" strike="noStrike" kern="1200" cap="none" spc="0" normalizeH="0" baseline="0" noProof="0" smtClean="0">
                                          <a:ln>
                                            <a:noFill/>
                                          </a:ln>
                                          <a:solidFill>
                                            <a:srgbClr val="000000"/>
                                          </a:solidFill>
                                          <a:effectLst/>
                                          <a:uLnTx/>
                                          <a:uFillTx/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  <a:cs typeface="+mn-cs"/>
                                        </a:rPr>
                                        <m:t>𝐴𝑥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</m:ctrlPr>
                                </m:dPr>
                                <m:e>
                                  <m:r>
                                    <a:rPr kumimoji="0" lang="en-US" altLang="zh-CN" sz="2400" b="0" i="1" u="none" strike="noStrike" kern="1200" cap="none" spc="0" normalizeH="0" baseline="0" noProof="0" smtClean="0">
                                      <a:ln>
                                        <a:noFill/>
                                      </a:ln>
                                      <a:solidFill>
                                        <a:srgbClr val="000000"/>
                                      </a:solidFill>
                                      <a:effectLst/>
                                      <a:uLnTx/>
                                      <a:uFillTx/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  <a:cs typeface="+mn-cs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                         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（</m:t>
                      </m:r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1</m:t>
                      </m:r>
                      <m:r>
                        <a:rPr lang="zh-CN" altLang="en-US" sz="2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）</m:t>
                      </m:r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满足矩阵范数定义，且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是与向量范数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𝛼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相容的矩阵范数。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833E2182-6C33-4018-E790-85C50489B8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1189846"/>
                <a:ext cx="10225136" cy="1911421"/>
              </a:xfrm>
              <a:prstGeom prst="rect">
                <a:avLst/>
              </a:prstGeom>
              <a:blipFill>
                <a:blip r:embed="rId2"/>
                <a:stretch>
                  <a:fillRect l="-954" b="-63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03CC2848-54E6-83BF-1719-87AA257C67B1}"/>
              </a:ext>
            </a:extLst>
          </p:cNvPr>
          <p:cNvSpPr txBox="1"/>
          <p:nvPr/>
        </p:nvSpPr>
        <p:spPr>
          <a:xfrm>
            <a:off x="594374" y="3023388"/>
            <a:ext cx="10225136" cy="580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证明：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 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非负性、齐次性显然。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华文中宋" panose="02010600040101010101" pitchFamily="2" charset="-122"/>
              <a:ea typeface="华文中宋" panose="02010600040101010101" pitchFamily="2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C027E0A-03BF-C388-676D-A98D9C5B440A}"/>
                  </a:ext>
                </a:extLst>
              </p:cNvPr>
              <p:cNvSpPr txBox="1"/>
              <p:nvPr/>
            </p:nvSpPr>
            <p:spPr>
              <a:xfrm>
                <a:off x="609600" y="3524101"/>
                <a:ext cx="10225136" cy="2975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     根据向量范数三角不等式可得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𝐴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+</m:t>
                              </m:r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𝐵</m:t>
                              </m:r>
                            </m:e>
                          </m:d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limLow>
                        <m:limLow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max</m:t>
                          </m:r>
                          <m: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 </m:t>
                          </m:r>
                        </m:e>
                        <m:lim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≠0</m:t>
                          </m:r>
                        </m:lim>
                      </m:limLow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func>
                                <m:func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 </m:t>
                                  </m:r>
                                </m:fName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(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𝐴</m:t>
                                      </m:r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+</m:t>
                                      </m:r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𝐵</m:t>
                                      </m:r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)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limLow>
                        <m:limLow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max</m:t>
                          </m:r>
                          <m: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 </m:t>
                          </m:r>
                        </m:e>
                        <m:lim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≠0</m:t>
                          </m:r>
                        </m:lim>
                      </m:limLow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func>
                                <m:func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 </m:t>
                                  </m:r>
                                </m:fName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𝐴𝑥</m:t>
                                      </m:r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+</m:t>
                                      </m:r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𝐵𝑥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≤</m:t>
                      </m:r>
                      <m:limLow>
                        <m:limLow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max</m:t>
                          </m:r>
                          <m: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 </m:t>
                          </m:r>
                        </m:e>
                        <m:lim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≠0</m:t>
                          </m:r>
                        </m:lim>
                      </m:limLow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func>
                                <m:func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 </m:t>
                                  </m:r>
                                </m:fName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𝐴𝑥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b="0" i="1" smtClean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𝐵𝑥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≤</m:t>
                      </m:r>
                      <m:limLow>
                        <m:limLow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max</m:t>
                          </m:r>
                          <m: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 </m:t>
                          </m:r>
                        </m:e>
                        <m:lim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≠0</m:t>
                          </m:r>
                        </m:lim>
                      </m:limLow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func>
                                <m:func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 </m:t>
                                  </m:r>
                                </m:fName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𝐴𝑥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limLow>
                        <m:limLow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max</m:t>
                          </m:r>
                          <m: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 </m:t>
                          </m:r>
                        </m:e>
                        <m:lim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≠0</m:t>
                          </m:r>
                        </m:lim>
                      </m:limLow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func>
                                <m:func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 </m:t>
                                  </m:r>
                                </m:fName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𝐵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𝑖</m:t>
                          </m:r>
                        </m:sub>
                      </m:sSub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𝐵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C027E0A-03BF-C388-676D-A98D9C5B4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524101"/>
                <a:ext cx="10225136" cy="29758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8731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613606" y="616110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5.3.1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诱导范数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C027E0A-03BF-C388-676D-A98D9C5B440A}"/>
                  </a:ext>
                </a:extLst>
              </p:cNvPr>
              <p:cNvSpPr txBox="1"/>
              <p:nvPr/>
            </p:nvSpPr>
            <p:spPr>
              <a:xfrm>
                <a:off x="479376" y="1196752"/>
                <a:ext cx="10225136" cy="27439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现证矩阵范数的相容性。设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𝐵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≠0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，则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𝐴𝐵</m:t>
                              </m:r>
                            </m:e>
                          </m:d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limLow>
                        <m:limLow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max</m:t>
                          </m:r>
                          <m: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 </m:t>
                          </m:r>
                        </m:e>
                        <m:lim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≠0</m:t>
                          </m:r>
                        </m:lim>
                      </m:limLow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func>
                                <m:func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 </m:t>
                                  </m:r>
                                </m:fName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𝐴</m:t>
                                      </m:r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𝐵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limLow>
                        <m:limLow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max</m:t>
                          </m:r>
                          <m: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 </m:t>
                          </m:r>
                        </m:e>
                        <m:lim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≠0</m:t>
                          </m:r>
                        </m:lim>
                      </m:limLow>
                      <m:d>
                        <m:d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24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func>
                                    <m:funcPr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 </m:t>
                                      </m:r>
                                    </m:fName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altLang="zh-CN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𝐴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altLang="zh-CN" sz="2400" b="0" i="1" smtClean="0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altLang="zh-CN" sz="2400" i="1">
                                                  <a:solidFill>
                                                    <a:srgbClr val="000000"/>
                                                  </a:solidFill>
                                                  <a:latin typeface="Cambria Math" panose="02040503050406030204" pitchFamily="18" charset="0"/>
                                                  <a:ea typeface="华文中宋" panose="02010600040101010101" pitchFamily="2" charset="-122"/>
                                                </a:rPr>
                                                <m:t>𝐵𝑥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𝛼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𝐵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𝛼</m:t>
                                  </m:r>
                                </m:sub>
                              </m:sSub>
                            </m:den>
                          </m:f>
                          <m:f>
                            <m:f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func>
                                    <m:funcPr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 </m:t>
                                      </m:r>
                                    </m:fName>
                                    <m:e>
                                      <m:d>
                                        <m:dPr>
                                          <m:begChr m:val="‖"/>
                                          <m:endChr m:val="‖"/>
                                          <m:ctrlPr>
                                            <a:rPr lang="en-US" altLang="zh-CN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b="0" i="1" smtClean="0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𝐵𝑥</m:t>
                                          </m:r>
                                        </m:e>
                                      </m:d>
                                    </m:e>
                                  </m:func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𝛼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sSub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𝛼</m:t>
                                  </m:r>
                                </m:sub>
                              </m:sSub>
                            </m:den>
                          </m:f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≤</m:t>
                      </m:r>
                      <m:limLow>
                        <m:limLow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max</m:t>
                          </m:r>
                          <m: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 </m:t>
                          </m:r>
                        </m:e>
                        <m:lim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≠0</m:t>
                          </m:r>
                        </m:lim>
                      </m:limLow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func>
                                <m:func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 </m:t>
                                  </m:r>
                                </m:fName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𝐴</m:t>
                                      </m:r>
                                      <m:d>
                                        <m:dPr>
                                          <m:ctrlPr>
                                            <a:rPr lang="en-US" altLang="zh-CN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altLang="zh-CN" sz="2400" i="1">
                                              <a:solidFill>
                                                <a:srgbClr val="000000"/>
                                              </a:solidFill>
                                              <a:latin typeface="Cambria Math" panose="02040503050406030204" pitchFamily="18" charset="0"/>
                                              <a:ea typeface="华文中宋" panose="02010600040101010101" pitchFamily="2" charset="-122"/>
                                            </a:rPr>
                                            <m:t>𝐵𝑥</m:t>
                                          </m:r>
                                        </m:e>
                                      </m:d>
                                    </m:e>
                                  </m:d>
                                </m:e>
                              </m:fun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𝐵𝑥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  <m:limLow>
                        <m:limLow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limLowPr>
                        <m:e>
                          <m:r>
                            <m:rPr>
                              <m:sty m:val="p"/>
                            </m:rP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max</m:t>
                          </m:r>
                          <m:r>
                            <a:rPr lang="en-US" altLang="zh-CN" sz="240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 </m:t>
                          </m:r>
                        </m:e>
                        <m:lim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𝑥</m:t>
                          </m:r>
                          <m: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≠0</m:t>
                          </m:r>
                        </m:lim>
                      </m:limLow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func>
                                <m:func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 </m:t>
                                  </m:r>
                                </m:fName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𝐵</m:t>
                                      </m:r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  <m:r>
                        <a:rPr lang="en-US" altLang="zh-CN" sz="24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华文中宋" panose="02010600040101010101" pitchFamily="2" charset="-122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dPr>
                            <m:e>
                              <m:r>
                                <a:rPr lang="en-US" altLang="zh-CN" sz="24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𝐵</m:t>
                              </m:r>
                            </m:e>
                          </m:d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>
                  <a:lnSpc>
                    <a:spcPct val="150000"/>
                  </a:lnSpc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因此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确实是矩阵范数。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C027E0A-03BF-C388-676D-A98D9C5B4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1196752"/>
                <a:ext cx="10225136" cy="2743956"/>
              </a:xfrm>
              <a:prstGeom prst="rect">
                <a:avLst/>
              </a:prstGeom>
              <a:blipFill>
                <a:blip r:embed="rId2"/>
                <a:stretch>
                  <a:fillRect l="-954" b="-42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8D2F75A-66F4-BECB-5D3D-691947DDD098}"/>
                  </a:ext>
                </a:extLst>
              </p:cNvPr>
              <p:cNvSpPr txBox="1"/>
              <p:nvPr/>
            </p:nvSpPr>
            <p:spPr>
              <a:xfrm>
                <a:off x="479376" y="3982819"/>
                <a:ext cx="10225136" cy="2299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     最后证明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华文中宋" panose="02010600040101010101" pitchFamily="2" charset="-122"/>
                    <a:cs typeface="+mn-cs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</m:ctrlPr>
                          </m:dPr>
                          <m:e>
                            <m:r>
                              <a:rPr kumimoji="0" lang="en-US" altLang="zh-CN" sz="2400" b="0" i="1" u="none" strike="noStrike" kern="1200" cap="none" spc="0" normalizeH="0" baseline="0" noProof="0" dirty="0" smtClean="0">
                                <a:ln>
                                  <a:noFill/>
                                </a:ln>
                                <a:solidFill>
                                  <a:srgbClr val="000000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  <a:cs typeface="+mn-cs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𝛼</m:t>
                        </m:r>
                      </m:sub>
                    </m:sSub>
                  </m:oMath>
                </a14:m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华文中宋" panose="02010600040101010101" pitchFamily="2" charset="-122"/>
                    <a:cs typeface="+mn-cs"/>
                  </a:rPr>
                  <a:t>相容，由（</a:t>
                </a:r>
                <a:r>
                  <a:rPr kumimoji="0" lang="en-US" altLang="zh-CN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华文中宋" panose="02010600040101010101" pitchFamily="2" charset="-122"/>
                    <a:cs typeface="+mn-cs"/>
                  </a:rPr>
                  <a:t>1</a:t>
                </a:r>
                <a:r>
                  <a:rPr kumimoji="0" lang="zh-CN" altLang="en-US" sz="2400" b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mbria Math" panose="02040503050406030204" pitchFamily="18" charset="0"/>
                    <a:ea typeface="华文中宋" panose="02010600040101010101" pitchFamily="2" charset="-122"/>
                    <a:cs typeface="+mn-cs"/>
                  </a:rPr>
                  <a:t>）式得</a:t>
                </a:r>
                <a:endParaRPr kumimoji="0" lang="en-US" altLang="zh-CN" sz="2400" b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mbria Math" panose="02040503050406030204" pitchFamily="18" charset="0"/>
                  <a:ea typeface="华文中宋" panose="02010600040101010101" pitchFamily="2" charset="-122"/>
                  <a:cs typeface="+mn-cs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𝑖</m:t>
                          </m:r>
                        </m:sub>
                      </m:sSub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≥</m:t>
                      </m:r>
                      <m:f>
                        <m:fPr>
                          <m:ctrlPr>
                            <a:rPr lang="en-US" altLang="zh-CN" sz="2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华文中宋" panose="02010600040101010101" pitchFamily="2" charset="-122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func>
                                <m:funcPr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funcPr>
                                <m:fNam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 </m:t>
                                  </m:r>
                                </m:fName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altLang="zh-CN" sz="24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  <a:ea typeface="华文中宋" panose="02010600040101010101" pitchFamily="2" charset="-122"/>
                                        </a:rPr>
                                        <m:t>𝐴𝑥</m:t>
                                      </m:r>
                                    </m:e>
                                  </m:d>
                                </m:e>
                              </m:func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</m:ctrlPr>
                            </m:sSub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CN" sz="24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华文中宋" panose="02010600040101010101" pitchFamily="2" charset="-122"/>
                                    </a:rPr>
                                    <m:t>𝑥</m:t>
                                  </m:r>
                                </m:e>
                              </m:d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</a:rPr>
                                <m:t>𝛼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CN" sz="2400" i="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此即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𝐴𝑥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≤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，表明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与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相容。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8D2F75A-66F4-BECB-5D3D-691947DDD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3982819"/>
                <a:ext cx="10225136" cy="2299669"/>
              </a:xfrm>
              <a:prstGeom prst="rect">
                <a:avLst/>
              </a:prstGeom>
              <a:blipFill>
                <a:blip r:embed="rId3"/>
                <a:stretch>
                  <a:fillRect l="-954" b="-502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513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613606" y="616110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5.3.1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诱导范数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C027E0A-03BF-C388-676D-A98D9C5B440A}"/>
                  </a:ext>
                </a:extLst>
              </p:cNvPr>
              <p:cNvSpPr txBox="1"/>
              <p:nvPr/>
            </p:nvSpPr>
            <p:spPr>
              <a:xfrm>
                <a:off x="479376" y="1268760"/>
                <a:ext cx="10873208" cy="1134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定义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3.2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由式（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）所定义的矩阵范数称为由向量范数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𝑥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𝛼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所诱导的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诱导范数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，也称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算子范数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C027E0A-03BF-C388-676D-A98D9C5B4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376" y="1268760"/>
                <a:ext cx="10873208" cy="1134926"/>
              </a:xfrm>
              <a:prstGeom prst="rect">
                <a:avLst/>
              </a:prstGeom>
              <a:blipFill>
                <a:blip r:embed="rId2"/>
                <a:stretch>
                  <a:fillRect l="-897" r="-617" b="-1182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8D2F75A-66F4-BECB-5D3D-691947DDD098}"/>
                  </a:ext>
                </a:extLst>
              </p:cNvPr>
              <p:cNvSpPr txBox="1"/>
              <p:nvPr/>
            </p:nvSpPr>
            <p:spPr>
              <a:xfrm>
                <a:off x="486882" y="2336178"/>
                <a:ext cx="10225136" cy="5809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常用的矩阵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𝑝</m:t>
                    </m:r>
                  </m:oMath>
                </a14:m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-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范数为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,  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zh-CN" altLang="en-US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与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∞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.</m:t>
                    </m:r>
                  </m:oMath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8D2F75A-66F4-BECB-5D3D-691947DDD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82" y="2336178"/>
                <a:ext cx="10225136" cy="580928"/>
              </a:xfrm>
              <a:prstGeom prst="rect">
                <a:avLst/>
              </a:prstGeom>
              <a:blipFill>
                <a:blip r:embed="rId3"/>
                <a:stretch>
                  <a:fillRect b="-229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D821B05-6E9B-BCF6-1C2E-3098E2D36C90}"/>
                  </a:ext>
                </a:extLst>
              </p:cNvPr>
              <p:cNvSpPr txBox="1"/>
              <p:nvPr/>
            </p:nvSpPr>
            <p:spPr>
              <a:xfrm>
                <a:off x="486882" y="2836404"/>
                <a:ext cx="10873208" cy="34994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定理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3.2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altLang="zh-CN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CN" sz="2400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𝑖𝑗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b>
                    </m:sSub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，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则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>
                  <a:lnSpc>
                    <a:spcPct val="125000"/>
                  </a:lnSpc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（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1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）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func>
                      <m:func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naryPr>
                              <m:sub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𝑖</m:t>
                                </m:r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𝑚</m:t>
                                </m:r>
                              </m:sup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4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4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 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    (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𝑗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=1,2,⋯,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)</m:t>
                        </m:r>
                      </m:e>
                    </m:func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，称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是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列和范数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。</a:t>
                </a:r>
                <a:endParaRPr lang="en-US" altLang="zh-CN" sz="2400" dirty="0">
                  <a:solidFill>
                    <a:srgbClr val="0000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  <a:p>
                <a:pPr lvl="0">
                  <a:lnSpc>
                    <a:spcPct val="125000"/>
                  </a:lnSpc>
                  <a:defRPr/>
                </a:pP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（</a:t>
                </a: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2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）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华文中宋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func>
                      <m:func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𝑗</m:t>
                            </m:r>
                          </m:lim>
                        </m:limLow>
                      </m:fName>
                      <m:e>
                        <m:sSup>
                          <m:sSupPr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𝑗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altLang="zh-CN" sz="2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zh-CN" sz="2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𝐴</m:t>
                                        </m:r>
                                      </m:e>
                                      <m:sup>
                                        <m:r>
                                          <a:rPr lang="en-US" altLang="zh-CN" sz="2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𝐻</m:t>
                                        </m:r>
                                      </m:sup>
                                    </m:sSup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𝐴</m:t>
                                    </m:r>
                                  </m:e>
                                </m:d>
                                <m:r>
                                  <a:rPr lang="en-US" altLang="zh-CN" sz="2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 </m:t>
                                </m:r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,</m:t>
                        </m:r>
                      </m:e>
                    </m:func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</m:t>
                    </m:r>
                    <m:sSub>
                      <m:sSub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𝜆</m:t>
                        </m:r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𝑗</m:t>
                        </m:r>
                      </m:sub>
                    </m:sSub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(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𝐻</m:t>
                        </m:r>
                      </m:sup>
                    </m:sSup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)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表示矩阵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p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𝐴</m:t>
                        </m:r>
                      </m:e>
                      <m:sup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𝐻</m:t>
                        </m:r>
                      </m:sup>
                    </m:sSup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的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第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𝑗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个特征值。称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谱范数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。即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2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的最大奇异值。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>
                  <a:lnSpc>
                    <a:spcPct val="125000"/>
                  </a:lnSpc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（</a:t>
                </a:r>
                <a:r>
                  <a:rPr lang="en-US" altLang="zh-CN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）</a:t>
                </a:r>
                <a:r>
                  <a:rPr lang="en-US" altLang="zh-CN" sz="2400" dirty="0">
                    <a:solidFill>
                      <a:srgbClr val="000000"/>
                    </a:solidFill>
                    <a:ea typeface="华文中宋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∞</m:t>
                        </m:r>
                      </m:sub>
                    </m:sSub>
                    <m:r>
                      <a:rPr lang="en-US" altLang="zh-CN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func>
                      <m:func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zh-CN" sz="2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𝑖</m:t>
                            </m:r>
                          </m:lim>
                        </m:limLow>
                      </m:fName>
                      <m:e>
                        <m:d>
                          <m:dPr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ctrlP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naryPr>
                              <m:sub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𝑗</m:t>
                                </m:r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  <m:t>𝑛</m:t>
                                </m:r>
                              </m:sup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CN" sz="2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CN" sz="2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𝑎</m:t>
                                        </m:r>
                                      </m:e>
                                      <m:sub>
                                        <m:r>
                                          <a:rPr lang="en-US" altLang="zh-CN" sz="2400" b="0" i="1" smtClean="0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  <a:ea typeface="华文中宋" panose="02010600040101010101" pitchFamily="2" charset="-122"/>
                                          </a:rPr>
                                          <m:t>𝑖𝑗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 </m:t>
                            </m:r>
                          </m:e>
                        </m:d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     (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𝑖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=1,2,⋯,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𝑚</m:t>
                        </m:r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)</m:t>
                        </m:r>
                      </m:e>
                    </m:func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，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b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r>
                              <a:rPr lang="en-US" altLang="zh-CN" sz="2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𝐴</m:t>
                            </m:r>
                          </m:e>
                        </m:d>
                      </m:e>
                      <m:sub>
                        <m:r>
                          <a:rPr lang="en-US" altLang="zh-CN" sz="2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∞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行和范数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。</a:t>
                </a: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D821B05-6E9B-BCF6-1C2E-3098E2D36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882" y="2836404"/>
                <a:ext cx="10873208" cy="3499484"/>
              </a:xfrm>
              <a:prstGeom prst="rect">
                <a:avLst/>
              </a:prstGeom>
              <a:blipFill>
                <a:blip r:embed="rId4"/>
                <a:stretch>
                  <a:fillRect l="-897" r="-1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4297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文本框 14">
            <a:extLst>
              <a:ext uri="{FF2B5EF4-FFF2-40B4-BE49-F238E27FC236}">
                <a16:creationId xmlns:a16="http://schemas.microsoft.com/office/drawing/2014/main" id="{B3606696-7358-4D25-BEA2-84C2FF0B170F}"/>
              </a:ext>
            </a:extLst>
          </p:cNvPr>
          <p:cNvSpPr txBox="1"/>
          <p:nvPr/>
        </p:nvSpPr>
        <p:spPr>
          <a:xfrm>
            <a:off x="1613606" y="616110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5.3.2 </a:t>
            </a:r>
            <a:r>
              <a:rPr kumimoji="1" lang="zh-CN" altLang="en-US" sz="2400" b="1" dirty="0">
                <a:solidFill>
                  <a:srgbClr val="0000FF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谱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  <a:cs typeface="+mn-cs"/>
              </a:rPr>
              <a:t>半径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8B5AE88E-3282-4F93-8227-2262B6C16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81FBE21-B40B-4B64-ABBE-395E3EC7A610}" type="slidenum">
              <a:rPr kumimoji="0" lang="en-US" altLang="zh-CN" sz="105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宋体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altLang="zh-CN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宋体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C027E0A-03BF-C388-676D-A98D9C5B440A}"/>
                  </a:ext>
                </a:extLst>
              </p:cNvPr>
              <p:cNvSpPr txBox="1"/>
              <p:nvPr/>
            </p:nvSpPr>
            <p:spPr>
              <a:xfrm>
                <a:off x="623392" y="1386356"/>
                <a:ext cx="11185920" cy="11349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定义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3.3 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</a:t>
                </a:r>
                <a14:m>
                  <m:oMath xmlns:m="http://schemas.openxmlformats.org/officeDocument/2006/math"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𝑛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个特征值为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1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,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2</m:t>
                        </m:r>
                      </m:sub>
                    </m:sSub>
                    <m:r>
                      <a:rPr kumimoji="0" lang="en-US" altLang="zh-CN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,⋯,</m:t>
                    </m:r>
                    <m:sSub>
                      <m:sSubPr>
                        <m:ctrlP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𝜆</m:t>
                        </m:r>
                      </m:e>
                      <m:sub>
                        <m:r>
                          <a:rPr kumimoji="0" lang="en-US" altLang="zh-CN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0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华文中宋" panose="02010600040101010101" pitchFamily="2" charset="-122"/>
                            <a:cs typeface="+mn-cs"/>
                          </a:rPr>
                          <m:t>𝑛</m:t>
                        </m:r>
                      </m:sub>
                    </m:sSub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</a:t>
                </a: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称</a:t>
                </a:r>
                <a14:m>
                  <m:oMath xmlns:m="http://schemas.openxmlformats.org/officeDocument/2006/math">
                    <m:r>
                      <a:rPr lang="zh-CN" altLang="en-US" sz="240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𝜌</m:t>
                    </m:r>
                    <m:d>
                      <m:d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</m:d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=</m:t>
                    </m:r>
                    <m:func>
                      <m:func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sz="2400" b="0" i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max</m:t>
                        </m:r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altLang="zh-CN" sz="2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华文中宋" panose="02010600040101010101" pitchFamily="2" charset="-122"/>
                              </a:rPr>
                              <m:t>,⋯,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zh-CN" sz="24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  <a:ea typeface="华文中宋" panose="02010600040101010101" pitchFamily="2" charset="-122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𝜆</m:t>
                                    </m:r>
                                  </m:e>
                                  <m:sub>
                                    <m:r>
                                      <a:rPr lang="en-US" altLang="zh-CN" sz="24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  <a:ea typeface="华文中宋" panose="02010600040101010101" pitchFamily="2" charset="-122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func>
                    <m:r>
                      <a:rPr lang="zh-CN" altLang="en-US" sz="24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是</m:t>
                    </m:r>
                    <m:r>
                      <a:rPr kumimoji="0" lang="en-US" altLang="zh-CN" sz="24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华文中宋" panose="02010600040101010101" pitchFamily="2" charset="-122"/>
                        <a:cs typeface="+mn-cs"/>
                      </a:rPr>
                      <m:t>𝐴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FF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的谱半径</a:t>
                </a:r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。</a:t>
                </a:r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2C027E0A-03BF-C388-676D-A98D9C5B44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392" y="1386356"/>
                <a:ext cx="11185920" cy="1134926"/>
              </a:xfrm>
              <a:prstGeom prst="rect">
                <a:avLst/>
              </a:prstGeom>
              <a:blipFill>
                <a:blip r:embed="rId2"/>
                <a:stretch>
                  <a:fillRect b="-112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8D2F75A-66F4-BECB-5D3D-691947DDD098}"/>
                  </a:ext>
                </a:extLst>
              </p:cNvPr>
              <p:cNvSpPr txBox="1"/>
              <p:nvPr/>
            </p:nvSpPr>
            <p:spPr>
              <a:xfrm>
                <a:off x="600468" y="2532741"/>
                <a:ext cx="10225136" cy="16889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定理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3.3 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∈</m:t>
                    </m:r>
                    <m:sSup>
                      <m:sSupPr>
                        <m:ctrlP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𝐶</m:t>
                        </m:r>
                      </m:e>
                      <m:sup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×</m:t>
                        </m:r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𝑛</m:t>
                        </m:r>
                      </m:sup>
                    </m:sSup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，则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𝜌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𝐴</m:t>
                          </m:r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≤</m:t>
                      </m:r>
                      <m:d>
                        <m:dPr>
                          <m:begChr m:val="‖"/>
                          <m:endChr m:val="‖"/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𝐴</m:t>
                          </m:r>
                        </m:e>
                      </m:d>
                    </m:oMath>
                  </m:oMathPara>
                </a14:m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>
                  <a:lnSpc>
                    <a:spcPct val="150000"/>
                  </a:lnSpc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其中</a:t>
                </a:r>
                <a14:m>
                  <m:oMath xmlns:m="http://schemas.openxmlformats.org/officeDocument/2006/math">
                    <m:d>
                      <m:dPr>
                        <m:begChr m:val="‖"/>
                        <m:endChr m:val="‖"/>
                        <m:ctrlPr>
                          <a:rPr lang="en-US" altLang="zh-CN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华文中宋" panose="02010600040101010101" pitchFamily="2" charset="-122"/>
                          </a:rPr>
                          <m:t>𝐴</m:t>
                        </m:r>
                      </m:e>
                    </m:d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是</a:t>
                </a:r>
                <a14:m>
                  <m:oMath xmlns:m="http://schemas.openxmlformats.org/officeDocument/2006/math">
                    <m:r>
                      <a:rPr lang="en-US" altLang="zh-CN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</m:oMath>
                </a14:m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的任何一种范数。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68D2F75A-66F4-BECB-5D3D-691947DDD0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468" y="2532741"/>
                <a:ext cx="10225136" cy="1688924"/>
              </a:xfrm>
              <a:prstGeom prst="rect">
                <a:avLst/>
              </a:prstGeom>
              <a:blipFill>
                <a:blip r:embed="rId3"/>
                <a:stretch>
                  <a:fillRect l="-954" b="-719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D821B05-6E9B-BCF6-1C2E-3098E2D36C90}"/>
                  </a:ext>
                </a:extLst>
              </p:cNvPr>
              <p:cNvSpPr txBox="1"/>
              <p:nvPr/>
            </p:nvSpPr>
            <p:spPr>
              <a:xfrm>
                <a:off x="599762" y="4336719"/>
                <a:ext cx="10873208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2400" dirty="0">
                    <a:solidFill>
                      <a:srgbClr val="000000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 </a:t>
                </a:r>
                <a:r>
                  <a:rPr lang="zh-CN" altLang="en-US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定理</a:t>
                </a:r>
                <a:r>
                  <a:rPr lang="en-US" altLang="zh-CN" sz="2400" dirty="0">
                    <a:solidFill>
                      <a:srgbClr val="0000FF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3.4 </a:t>
                </a:r>
                <a:r>
                  <a:rPr lang="zh-CN" altLang="en-US" sz="2400" dirty="0">
                    <a:solidFill>
                      <a:schemeClr val="tx1"/>
                    </a:solidFill>
                    <a:latin typeface="华文中宋" panose="02010600040101010101" pitchFamily="2" charset="-122"/>
                    <a:ea typeface="华文中宋" panose="02010600040101010101" pitchFamily="2" charset="-122"/>
                  </a:rPr>
                  <a:t>设</a:t>
                </a:r>
                <a14:m>
                  <m:oMath xmlns:m="http://schemas.openxmlformats.org/officeDocument/2006/math"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𝐴</m:t>
                    </m:r>
                    <m:r>
                      <a:rPr lang="en-US" altLang="zh-CN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 </m:t>
                    </m:r>
                    <m:r>
                      <a:rPr lang="zh-CN" alt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是</m:t>
                    </m:r>
                    <m:r>
                      <a:rPr lang="zh-CN" altLang="en-US" sz="2400" i="1"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正规矩阵</m:t>
                    </m:r>
                    <m:r>
                      <a:rPr lang="zh-CN" alt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中宋" panose="02010600040101010101" pitchFamily="2" charset="-122"/>
                      </a:rPr>
                      <m:t>，</m:t>
                    </m:r>
                  </m:oMath>
                </a14:m>
                <a:r>
                  <a:rPr kumimoji="0" lang="zh-CN" alt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华文中宋" panose="02010600040101010101" pitchFamily="2" charset="-122"/>
                    <a:ea typeface="华文中宋" panose="02010600040101010101" pitchFamily="2" charset="-122"/>
                    <a:cs typeface="+mn-cs"/>
                  </a:rPr>
                  <a:t>则</a:t>
                </a:r>
                <a:endParaRPr kumimoji="0" lang="en-US" altLang="zh-CN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  <a:p>
                <a:pPr lvl="0">
                  <a:lnSpc>
                    <a:spcPct val="125000"/>
                  </a:lnSpc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𝜌</m:t>
                      </m:r>
                      <m:d>
                        <m:d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dPr>
                        <m:e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𝐴</m:t>
                          </m:r>
                        </m:e>
                      </m:d>
                      <m:r>
                        <a:rPr kumimoji="0" lang="en-US" altLang="zh-CN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华文中宋" panose="02010600040101010101" pitchFamily="2" charset="-122"/>
                          <a:cs typeface="+mn-cs"/>
                        </a:rPr>
                        <m:t>=</m:t>
                      </m:r>
                      <m:sSub>
                        <m:sSubPr>
                          <m:ctrlP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</m:ctrlPr>
                        </m:sSub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</m:ctrlPr>
                            </m:dPr>
                            <m:e>
                              <m:r>
                                <a:rPr kumimoji="0" lang="en-US" altLang="zh-CN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华文中宋" panose="02010600040101010101" pitchFamily="2" charset="-122"/>
                                  <a:cs typeface="+mn-cs"/>
                                </a:rPr>
                                <m:t>𝐴</m:t>
                              </m:r>
                            </m:e>
                          </m:d>
                        </m:e>
                        <m:sub>
                          <m:r>
                            <a:rPr kumimoji="0" lang="en-US" altLang="zh-CN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华文中宋" panose="02010600040101010101" pitchFamily="2" charset="-122"/>
                              <a:cs typeface="+mn-cs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  <a:cs typeface="+mn-cs"/>
                </a:endParaRPr>
              </a:p>
            </p:txBody>
          </p:sp>
        </mc:Choice>
        <mc:Fallback xmlns="">
          <p:sp>
            <p:nvSpPr>
              <p:cNvPr id="4" name="文本框 3">
                <a:extLst>
                  <a:ext uri="{FF2B5EF4-FFF2-40B4-BE49-F238E27FC236}">
                    <a16:creationId xmlns:a16="http://schemas.microsoft.com/office/drawing/2014/main" id="{1D821B05-6E9B-BCF6-1C2E-3098E2D36C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62" y="4336719"/>
                <a:ext cx="10873208" cy="110799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890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3" grpId="0"/>
      <p:bldP spid="4" grpId="0"/>
    </p:bldLst>
  </p:timing>
</p:sld>
</file>

<file path=ppt/theme/_rels/them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楷体_GB2312"/>
        <a:ea typeface="楷体_GB2312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  <a:ea typeface="宋体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5.xml><?xml version="1.0" encoding="utf-8"?>
<a:theme xmlns:a="http://schemas.openxmlformats.org/drawingml/2006/main" name="1_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6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TM02900720[[fn=积分]]</Template>
  <TotalTime>4328</TotalTime>
  <Words>1132</Words>
  <Application>Microsoft Office PowerPoint</Application>
  <PresentationFormat>宽屏</PresentationFormat>
  <Paragraphs>125</Paragraphs>
  <Slides>20</Slides>
  <Notes>9</Notes>
  <HiddenSlides>1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等线</vt:lpstr>
      <vt:lpstr>黑体</vt:lpstr>
      <vt:lpstr>华文中宋</vt:lpstr>
      <vt:lpstr>楷体_GB2312</vt:lpstr>
      <vt:lpstr>Arial</vt:lpstr>
      <vt:lpstr>Arial Black</vt:lpstr>
      <vt:lpstr>Calibri</vt:lpstr>
      <vt:lpstr>Calibri Light</vt:lpstr>
      <vt:lpstr>Cambria Math</vt:lpstr>
      <vt:lpstr>Garamond</vt:lpstr>
      <vt:lpstr>Tahoma</vt:lpstr>
      <vt:lpstr>Times New Roman</vt:lpstr>
      <vt:lpstr>Wingdings</vt:lpstr>
      <vt:lpstr>Wingdings 2</vt:lpstr>
      <vt:lpstr>HDOfficeLightV0</vt:lpstr>
      <vt:lpstr>Pixel</vt:lpstr>
      <vt:lpstr>Blends</vt:lpstr>
      <vt:lpstr>环保</vt:lpstr>
      <vt:lpstr>1_环保</vt:lpstr>
      <vt:lpstr>PowerPoint 演示文稿</vt:lpstr>
      <vt:lpstr>PowerPoint 演示文稿</vt:lpstr>
      <vt:lpstr>5.1 向量范数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5.2 矩阵范数</vt:lpstr>
      <vt:lpstr>PowerPoint 演示文稿</vt:lpstr>
      <vt:lpstr>PowerPoint 演示文稿</vt:lpstr>
      <vt:lpstr>PowerPoint 演示文稿</vt:lpstr>
      <vt:lpstr>5.3 诱导范数（算子范数）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ncut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第一节  欧氏空间、酉空间</dc:title>
  <dc:creator>lhs</dc:creator>
  <cp:lastModifiedBy>李 京京</cp:lastModifiedBy>
  <cp:revision>80</cp:revision>
  <cp:lastPrinted>2021-11-09T13:57:52Z</cp:lastPrinted>
  <dcterms:created xsi:type="dcterms:W3CDTF">2003-11-22T21:16:13Z</dcterms:created>
  <dcterms:modified xsi:type="dcterms:W3CDTF">2024-10-22T02:32:44Z</dcterms:modified>
</cp:coreProperties>
</file>